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7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  <p:sldId id="271" r:id="rId17"/>
    <p:sldId id="272" r:id="rId18"/>
    <p:sldId id="275" r:id="rId19"/>
    <p:sldId id="276" r:id="rId20"/>
    <p:sldId id="277" r:id="rId21"/>
    <p:sldId id="278" r:id="rId22"/>
    <p:sldId id="290" r:id="rId23"/>
    <p:sldId id="279" r:id="rId24"/>
    <p:sldId id="291" r:id="rId25"/>
    <p:sldId id="280" r:id="rId26"/>
    <p:sldId id="281" r:id="rId27"/>
    <p:sldId id="282" r:id="rId28"/>
    <p:sldId id="283" r:id="rId29"/>
    <p:sldId id="289" r:id="rId30"/>
    <p:sldId id="284" r:id="rId31"/>
    <p:sldId id="285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90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sunrise197605/Datahour_HybridRAG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nalyticsVid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050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694944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5600" b="1" dirty="0">
                <a:solidFill>
                  <a:srgbClr val="FFFFFF"/>
                </a:solidFill>
                <a:latin typeface="Calibri"/>
              </a:rPr>
              <a:t>Hybrid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69494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F46E32"/>
                </a:solidFill>
                <a:latin typeface="Calibri"/>
              </a:rPr>
              <a:t>with Re-Ranker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CCCCCC"/>
                </a:solidFill>
                <a:latin typeface="Calibri"/>
              </a:rPr>
              <a:t>Building Smarter Retrieval for Conversational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Calibri"/>
              </a:rPr>
              <a:t>DataHour  •  Analytics Vidhya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300" b="1">
                <a:solidFill>
                  <a:srgbClr val="F46E32"/>
                </a:solidFill>
                <a:latin typeface="Calibri"/>
              </a:rPr>
              <a:t>Presentation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694944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Katiki Ravindra Babu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Strategic Technology Advisor, Vriksha.ai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5216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CTO  |  27+ Years Building Scalable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694944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>
                <a:solidFill>
                  <a:srgbClr val="CCCCCC"/>
                </a:solidFill>
                <a:latin typeface="Calibri"/>
              </a:rPr>
              <a:t>M. Tech in AI/ML, BITS Pilani</a:t>
            </a:r>
          </a:p>
        </p:txBody>
      </p:sp>
      <p:pic>
        <p:nvPicPr>
          <p:cNvPr id="13" name="Picture 12" descr="vriksha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5120640"/>
            <a:ext cx="1463040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6367" y="6400656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dirty="0">
                <a:solidFill>
                  <a:srgbClr val="CCCCCC"/>
                </a:solidFill>
                <a:latin typeface="Calibri"/>
              </a:rPr>
              <a:t>Code &amp; slides: </a:t>
            </a:r>
            <a:r>
              <a:rPr sz="1200" b="1" dirty="0">
                <a:solidFill>
                  <a:srgbClr val="F46E32"/>
                </a:solidFill>
                <a:latin typeface="Consolas"/>
                <a:hlinkClick r:id="rId4"/>
              </a:rPr>
              <a:t>github.com/sunrise197605/</a:t>
            </a:r>
            <a:r>
              <a:rPr sz="1200" b="1" dirty="0" err="1">
                <a:solidFill>
                  <a:srgbClr val="F46E32"/>
                </a:solidFill>
                <a:latin typeface="Consolas"/>
                <a:hlinkClick r:id="rId4"/>
              </a:rPr>
              <a:t>Datahour_HybridRAG</a:t>
            </a:r>
            <a:endParaRPr sz="1200" b="1" dirty="0">
              <a:solidFill>
                <a:srgbClr val="F46E32"/>
              </a:solidFill>
              <a:latin typeface="Consolas"/>
              <a:hlinkClick r:id="rId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About 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Strategic Technology Advisor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at Vriksha.ai — focus on platform reliability and applied AI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27+ years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in gaming and large-scale platform engineering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Operated systems handling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4B+ daily service calls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at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125K+ concurrent users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Managed product portfolios exceeding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$1B in revenue impact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Top 10 Tech Leader in India (2025)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by </a:t>
            </a:r>
            <a:r>
              <a:rPr sz="1800" dirty="0" err="1">
                <a:solidFill>
                  <a:srgbClr val="FFFFFF"/>
                </a:solidFill>
                <a:latin typeface="Calibri"/>
              </a:rPr>
              <a:t>TradeFlock</a:t>
            </a:r>
            <a:endParaRPr sz="1800" dirty="0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Areas of work: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Hybrid RAG, Conversational AI, Multi-Agent systems, Observability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Today's session: walking through Hybrid RAG end-to-end —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theory, code, and a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 We Will Cover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Conversational AI</a:t>
            </a:r>
            <a:r>
              <a:rPr dirty="0">
                <a:solidFill>
                  <a:srgbClr val="FFFFFF"/>
                </a:solidFill>
                <a:latin typeface="Calibri"/>
              </a:rPr>
              <a:t> — what it is and the problem it tries to solve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Request–Response Pipeline</a:t>
            </a:r>
            <a:r>
              <a:rPr dirty="0">
                <a:solidFill>
                  <a:srgbClr val="FFFFFF"/>
                </a:solidFill>
                <a:latin typeface="Calibri"/>
              </a:rPr>
              <a:t> — how a query becomes a grounded answer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RAG Architecture</a:t>
            </a:r>
            <a:r>
              <a:rPr dirty="0">
                <a:solidFill>
                  <a:srgbClr val="FFFFFF"/>
                </a:solidFill>
                <a:latin typeface="Calibri"/>
              </a:rPr>
              <a:t> — grounding LLMs in real documents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Hybrid RAG</a:t>
            </a:r>
            <a:r>
              <a:rPr dirty="0">
                <a:solidFill>
                  <a:srgbClr val="FFFFFF"/>
                </a:solidFill>
                <a:latin typeface="Calibri"/>
              </a:rPr>
              <a:t> — Dense retrieval + BM25 fused with Reciprocal Rank Fusion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The Re-Ranker stage</a:t>
            </a:r>
            <a:r>
              <a:rPr dirty="0">
                <a:solidFill>
                  <a:srgbClr val="FFFFFF"/>
                </a:solidFill>
                <a:latin typeface="Calibri"/>
              </a:rPr>
              <a:t> — why a cross-encoder is the cheapest big quality win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Code walkthrough</a:t>
            </a:r>
            <a:r>
              <a:rPr dirty="0">
                <a:solidFill>
                  <a:srgbClr val="FFFFFF"/>
                </a:solidFill>
                <a:latin typeface="Calibri"/>
              </a:rPr>
              <a:t> — pipeline, retrievers, RRF, </a:t>
            </a:r>
            <a:r>
              <a:rPr dirty="0" err="1">
                <a:solidFill>
                  <a:srgbClr val="FFFFFF"/>
                </a:solidFill>
                <a:latin typeface="Calibri"/>
              </a:rPr>
              <a:t>reranker</a:t>
            </a:r>
            <a:r>
              <a:rPr dirty="0">
                <a:solidFill>
                  <a:srgbClr val="FFFFFF"/>
                </a:solidFill>
                <a:latin typeface="Calibri"/>
              </a:rPr>
              <a:t>, prompts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Evaluation</a:t>
            </a:r>
            <a:r>
              <a:rPr dirty="0">
                <a:solidFill>
                  <a:srgbClr val="FFFFFF"/>
                </a:solidFill>
                <a:latin typeface="Calibri"/>
              </a:rPr>
              <a:t> — MRR, </a:t>
            </a:r>
            <a:r>
              <a:rPr dirty="0" err="1">
                <a:solidFill>
                  <a:srgbClr val="FFFFFF"/>
                </a:solidFill>
                <a:latin typeface="Calibri"/>
              </a:rPr>
              <a:t>HitRate</a:t>
            </a:r>
            <a:r>
              <a:rPr dirty="0">
                <a:solidFill>
                  <a:srgbClr val="FFFFFF"/>
                </a:solidFill>
                <a:latin typeface="Calibri"/>
              </a:rPr>
              <a:t>, plus our custom CUS and ACS metrics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Production realities</a:t>
            </a:r>
            <a:r>
              <a:rPr dirty="0">
                <a:solidFill>
                  <a:srgbClr val="FFFFFF"/>
                </a:solidFill>
                <a:latin typeface="Calibri"/>
              </a:rPr>
              <a:t> — failure modes, observability, what to watch for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Live Demo</a:t>
            </a:r>
            <a:r>
              <a:rPr dirty="0">
                <a:solidFill>
                  <a:srgbClr val="FFFFFF"/>
                </a:solidFill>
                <a:latin typeface="Calibri"/>
              </a:rPr>
              <a:t> — </a:t>
            </a:r>
            <a:r>
              <a:rPr dirty="0" err="1">
                <a:solidFill>
                  <a:srgbClr val="FFFFFF"/>
                </a:solidFill>
                <a:latin typeface="Calibri"/>
              </a:rPr>
              <a:t>Streamlit</a:t>
            </a:r>
            <a:r>
              <a:rPr dirty="0">
                <a:solidFill>
                  <a:srgbClr val="FFFFFF"/>
                </a:solidFill>
                <a:latin typeface="Calibri"/>
              </a:rPr>
              <a:t> UI with </a:t>
            </a:r>
            <a:r>
              <a:rPr dirty="0" err="1">
                <a:solidFill>
                  <a:srgbClr val="FFFFFF"/>
                </a:solidFill>
                <a:latin typeface="Calibri"/>
              </a:rPr>
              <a:t>reranker</a:t>
            </a:r>
            <a:r>
              <a:rPr dirty="0">
                <a:solidFill>
                  <a:srgbClr val="FFFFFF"/>
                </a:solidFill>
                <a:latin typeface="Calibri"/>
              </a:rPr>
              <a:t> toggle and source explainability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What is a Conversational AI System?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A system that holds a </a:t>
            </a:r>
            <a:r>
              <a:rPr b="1" dirty="0">
                <a:solidFill>
                  <a:srgbClr val="F46E32"/>
                </a:solidFill>
                <a:latin typeface="Calibri"/>
              </a:rPr>
              <a:t>natural-language conversation</a:t>
            </a:r>
            <a:r>
              <a:rPr dirty="0">
                <a:solidFill>
                  <a:srgbClr val="FFFFFF"/>
                </a:solidFill>
                <a:latin typeface="Calibri"/>
              </a:rPr>
              <a:t> with a user and helps them complete tasks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Classical pipeline: </a:t>
            </a:r>
            <a:r>
              <a:rPr b="1" dirty="0">
                <a:solidFill>
                  <a:srgbClr val="F46E32"/>
                </a:solidFill>
                <a:latin typeface="Calibri"/>
              </a:rPr>
              <a:t>NLU → Dialogue State → Knowledge Lookup → NLG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Modern systems collapse most of this into a </a:t>
            </a:r>
            <a:r>
              <a:rPr b="1" dirty="0">
                <a:solidFill>
                  <a:srgbClr val="F46E32"/>
                </a:solidFill>
                <a:latin typeface="Calibri"/>
              </a:rPr>
              <a:t>Large Language Model</a:t>
            </a:r>
            <a:r>
              <a:rPr dirty="0">
                <a:solidFill>
                  <a:srgbClr val="FFFFFF"/>
                </a:solidFill>
                <a:latin typeface="Calibri"/>
              </a:rPr>
              <a:t> with tools and retrieval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Inputs are messy: </a:t>
            </a:r>
            <a:r>
              <a:rPr b="1" dirty="0">
                <a:solidFill>
                  <a:srgbClr val="F46E32"/>
                </a:solidFill>
                <a:latin typeface="Calibri"/>
              </a:rPr>
              <a:t>paraphrases, typos, follow-ups, ambiguity, multi-part questions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Output expectation has shifted from </a:t>
            </a:r>
            <a:r>
              <a:rPr b="1" dirty="0">
                <a:solidFill>
                  <a:srgbClr val="F46E32"/>
                </a:solidFill>
                <a:latin typeface="Calibri"/>
              </a:rPr>
              <a:t>'plausible reply' to 'verified, grounded answer'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The bar is now: be </a:t>
            </a:r>
            <a:r>
              <a:rPr b="1" dirty="0">
                <a:solidFill>
                  <a:srgbClr val="F46E32"/>
                </a:solidFill>
                <a:latin typeface="Calibri"/>
              </a:rPr>
              <a:t>correct, cite sources, stay current, and admit when you don't know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Conversational AI is no longer a chat window — it is the </a:t>
            </a:r>
            <a:r>
              <a:rPr b="1" dirty="0">
                <a:solidFill>
                  <a:srgbClr val="F46E32"/>
                </a:solidFill>
                <a:latin typeface="Calibri"/>
              </a:rPr>
              <a:t>front door to enterprise knowledge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Conversation is the interface. Retrieval is the substance.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an LLM Alone is Not Enough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Knowledge cutoff</a:t>
            </a:r>
            <a:r>
              <a:rPr dirty="0">
                <a:solidFill>
                  <a:srgbClr val="FFFFFF"/>
                </a:solidFill>
                <a:latin typeface="Calibri"/>
              </a:rPr>
              <a:t> — the model has no idea what happened after training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No access to private data</a:t>
            </a:r>
            <a:r>
              <a:rPr dirty="0">
                <a:solidFill>
                  <a:srgbClr val="FFFFFF"/>
                </a:solidFill>
                <a:latin typeface="Calibri"/>
              </a:rPr>
              <a:t> — your wikis, tickets, product docs, customer history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Hallucinations</a:t>
            </a:r>
            <a:r>
              <a:rPr dirty="0">
                <a:solidFill>
                  <a:srgbClr val="FFFFFF"/>
                </a:solidFill>
                <a:latin typeface="Calibri"/>
              </a:rPr>
              <a:t> — the model fabricates confident, plausible, and wrong answers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No source attribution</a:t>
            </a:r>
            <a:r>
              <a:rPr dirty="0">
                <a:solidFill>
                  <a:srgbClr val="FFFFFF"/>
                </a:solidFill>
                <a:latin typeface="Calibri"/>
              </a:rPr>
              <a:t> — the user cannot verify or audit the answer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Stale facts decay silently</a:t>
            </a:r>
            <a:r>
              <a:rPr dirty="0">
                <a:solidFill>
                  <a:srgbClr val="FFFFFF"/>
                </a:solidFill>
                <a:latin typeface="Calibri"/>
              </a:rPr>
              <a:t> — yesterday's correct answer becomes today's incident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Re-training is expensive</a:t>
            </a:r>
            <a:r>
              <a:rPr dirty="0">
                <a:solidFill>
                  <a:srgbClr val="FFFFFF"/>
                </a:solidFill>
                <a:latin typeface="Calibri"/>
              </a:rPr>
              <a:t> — you cannot fine-tune your way out of every fact change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Compliance risk</a:t>
            </a:r>
            <a:r>
              <a:rPr dirty="0">
                <a:solidFill>
                  <a:srgbClr val="FFFFFF"/>
                </a:solidFill>
                <a:latin typeface="Calibri"/>
              </a:rPr>
              <a:t> — regulated domains demand traceable, citable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Don't ask the LLM to remember. Let it look things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Agentic Conversational AI — Request → Response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199" y="1188720"/>
            <a:ext cx="112287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AAAAAA"/>
                </a:solidFill>
              </a:rPr>
              <a:t>How a modern conversational agent processes user input — </a:t>
            </a:r>
            <a:r>
              <a:rPr sz="1400" b="1" dirty="0">
                <a:solidFill>
                  <a:srgbClr val="F46E32"/>
                </a:solidFill>
              </a:rPr>
              <a:t>Hybrid RAG sits inside steps 3–5</a:t>
            </a:r>
            <a:r>
              <a:rPr lang="en-US" sz="1400" b="1" dirty="0">
                <a:solidFill>
                  <a:srgbClr val="F46E32"/>
                </a:solidFill>
              </a:rPr>
              <a:t>,  Credits  :  BITS Pilani MTech AI / ML program</a:t>
            </a:r>
            <a:endParaRPr sz="1400" b="1" dirty="0">
              <a:solidFill>
                <a:srgbClr val="F46E32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94360" y="180136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1343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User input received &amp; validated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Parse user intent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Extract entities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Input sanitization (security)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02152" y="180136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31343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Intent classification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Task decomposition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Determine required tools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Route to appropriate sub-agent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409944" y="1801368"/>
            <a:ext cx="457200" cy="457200"/>
          </a:xfrm>
          <a:prstGeom prst="ellipse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4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46E32"/>
                </a:solidFill>
                <a:latin typeface="Calibri"/>
              </a:rPr>
              <a:t>REASONING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2313432"/>
            <a:ext cx="2514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Planning &amp; decisions with LLM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Break down into steps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Identify information gaps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Plan tool call sequence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0576" y="169164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317736" y="1801368"/>
            <a:ext cx="457200" cy="457200"/>
          </a:xfrm>
          <a:prstGeom prst="ellipse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66376" y="178308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46E32"/>
                </a:solidFill>
                <a:latin typeface="Calibri"/>
              </a:rPr>
              <a:t>TOOL INVOCATION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231343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External API calls &amp; actions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Database &amp; vector-store queries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Full-text / graph search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Code execution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06908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94360" y="4178808"/>
            <a:ext cx="457200" cy="457200"/>
          </a:xfrm>
          <a:prstGeom prst="ellipse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1605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46E32"/>
                </a:solidFill>
                <a:latin typeface="Calibri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690872"/>
            <a:ext cx="2514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Context storage &amp; retrieval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Store conversation history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Update user preferences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Maintain session state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64992" y="406908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3502152" y="417880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50792" y="41605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SAFETY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2152" y="4690872"/>
            <a:ext cx="251460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Guardrails &amp; output validation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Check for toxic content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Verify factual accuracy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PII redaction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72784" y="4069080"/>
            <a:ext cx="2743200" cy="2194560"/>
          </a:xfrm>
          <a:prstGeom prst="roundRect">
            <a:avLst/>
          </a:prstGeom>
          <a:solidFill>
            <a:srgbClr val="221B1F"/>
          </a:solidFill>
          <a:ln w="12700">
            <a:solidFill>
              <a:srgbClr val="2E8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409944" y="4178808"/>
            <a:ext cx="457200" cy="457200"/>
          </a:xfrm>
          <a:prstGeom prst="ellipse">
            <a:avLst/>
          </a:prstGeom>
          <a:solidFill>
            <a:srgbClr val="2E8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58584" y="4160520"/>
            <a:ext cx="1965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8BC4"/>
                </a:solidFill>
                <a:latin typeface="Calibri"/>
              </a:rPr>
              <a:t>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9944" y="4690872"/>
            <a:ext cx="251460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Final output delivered to user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Natural language generation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Format for channel (text/voice/UI)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FFFFFF"/>
                </a:solidFill>
                <a:latin typeface="Calibri"/>
              </a:rPr>
              <a:t>• Send to user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67948" y="6263640"/>
            <a:ext cx="600850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F46E32"/>
                </a:solidFill>
                <a:latin typeface="Calibri"/>
              </a:rPr>
              <a:t>Retrieval (Hybrid RAG) is one slice — steps 3–5 of a larger agent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Inside RAG — The Query-to-Answer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User Query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33472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Retriever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9744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86016" y="155448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98077" y="1581140"/>
            <a:ext cx="2011680" cy="7772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Answer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45152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821424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997696" y="0"/>
            <a:ext cx="164592" cy="0"/>
          </a:xfrm>
          <a:prstGeom prst="line">
            <a:avLst/>
          </a:prstGeom>
          <a:ln w="28575">
            <a:solidFill>
              <a:srgbClr val="F46E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33" y="26060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300">
                <a:solidFill>
                  <a:srgbClr val="AAAAAA"/>
                </a:solidFill>
                <a:latin typeface="Calibri"/>
              </a:rPr>
              <a:t>Each stage adds latency and is </a:t>
            </a:r>
            <a:r>
              <a:rPr sz="1300" b="1">
                <a:solidFill>
                  <a:srgbClr val="F46E32"/>
                </a:solidFill>
                <a:latin typeface="Calibri"/>
              </a:rPr>
              <a:t>independently optimizable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108960"/>
            <a:ext cx="11247120" cy="18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Query understanding</a:t>
            </a:r>
            <a:r>
              <a:rPr dirty="0">
                <a:solidFill>
                  <a:srgbClr val="FFFFFF"/>
                </a:solidFill>
                <a:latin typeface="Calibri"/>
              </a:rPr>
              <a:t> — the same question asked five different ways must reach the same docs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Retrieval</a:t>
            </a:r>
            <a:r>
              <a:rPr dirty="0">
                <a:solidFill>
                  <a:srgbClr val="FFFFFF"/>
                </a:solidFill>
                <a:latin typeface="Calibri"/>
              </a:rPr>
              <a:t> — the recall ceiling for the entire system. If the doc isn't fetched, no LLM can save you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Ranking and filtering</a:t>
            </a:r>
            <a:r>
              <a:rPr dirty="0">
                <a:solidFill>
                  <a:srgbClr val="FFFFFF"/>
                </a:solidFill>
                <a:latin typeface="Calibri"/>
              </a:rPr>
              <a:t> — too much context distracts the model and inflates token cost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Generation</a:t>
            </a:r>
            <a:r>
              <a:rPr dirty="0">
                <a:solidFill>
                  <a:srgbClr val="FFFFFF"/>
                </a:solidFill>
                <a:latin typeface="Calibri"/>
              </a:rPr>
              <a:t> — small models are fast and shallow; large models are slow and thorough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Citation</a:t>
            </a:r>
            <a:r>
              <a:rPr dirty="0">
                <a:solidFill>
                  <a:srgbClr val="FFFFFF"/>
                </a:solidFill>
                <a:latin typeface="Calibri"/>
              </a:rPr>
              <a:t> — every claim should map back to a chunk the user can click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Optimize the bottleneck stage, not the slowest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RAG: Retrieval-Augmented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93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b="1" dirty="0">
                <a:solidFill>
                  <a:srgbClr val="F46E32"/>
                </a:solidFill>
                <a:latin typeface="Calibri"/>
              </a:rPr>
              <a:t>Idea: Treat the LLM like an open-book exam, not a memory test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247120" cy="183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1 — Index:</a:t>
            </a:r>
            <a:r>
              <a:rPr dirty="0">
                <a:solidFill>
                  <a:srgbClr val="FFFFFF"/>
                </a:solidFill>
                <a:latin typeface="Calibri"/>
              </a:rPr>
              <a:t> chunk your documents and embed them into a vector store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2 — Retrieve:</a:t>
            </a:r>
            <a:r>
              <a:rPr dirty="0">
                <a:solidFill>
                  <a:srgbClr val="FFFFFF"/>
                </a:solidFill>
                <a:latin typeface="Calibri"/>
              </a:rPr>
              <a:t> at query time, fetch the top-K most relevant chunks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3 — Augment:</a:t>
            </a:r>
            <a:r>
              <a:rPr dirty="0">
                <a:solidFill>
                  <a:srgbClr val="FFFFFF"/>
                </a:solidFill>
                <a:latin typeface="Calibri"/>
              </a:rPr>
              <a:t> pass the chunks alongside the question into the prompt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4 — Generate:</a:t>
            </a:r>
            <a:r>
              <a:rPr dirty="0">
                <a:solidFill>
                  <a:srgbClr val="FFFFFF"/>
                </a:solidFill>
                <a:latin typeface="Calibri"/>
              </a:rPr>
              <a:t> the LLM produces an answer </a:t>
            </a:r>
            <a:r>
              <a:rPr b="1" dirty="0">
                <a:solidFill>
                  <a:srgbClr val="F46E32"/>
                </a:solidFill>
                <a:latin typeface="Calibri"/>
              </a:rPr>
              <a:t>grounded</a:t>
            </a:r>
            <a:r>
              <a:rPr dirty="0">
                <a:solidFill>
                  <a:srgbClr val="FFFFFF"/>
                </a:solidFill>
                <a:latin typeface="Calibri"/>
              </a:rPr>
              <a:t> in the retrieved text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Step 5 — Cite:</a:t>
            </a:r>
            <a:r>
              <a:rPr dirty="0">
                <a:solidFill>
                  <a:srgbClr val="FFFFFF"/>
                </a:solidFill>
                <a:latin typeface="Calibri"/>
              </a:rPr>
              <a:t> return the chunks that supported each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this buys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631769" cy="1102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Update knowledge by </a:t>
            </a:r>
            <a:r>
              <a:rPr b="1" dirty="0">
                <a:solidFill>
                  <a:srgbClr val="F46E32"/>
                </a:solidFill>
                <a:latin typeface="Calibri"/>
              </a:rPr>
              <a:t>re-indexing</a:t>
            </a:r>
            <a:r>
              <a:rPr dirty="0">
                <a:solidFill>
                  <a:srgbClr val="FFFFFF"/>
                </a:solidFill>
                <a:latin typeface="Calibri"/>
              </a:rPr>
              <a:t>, not retraining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Source citations</a:t>
            </a:r>
            <a:r>
              <a:rPr dirty="0">
                <a:solidFill>
                  <a:srgbClr val="FFFFFF"/>
                </a:solidFill>
                <a:latin typeface="Calibri"/>
              </a:rPr>
              <a:t> for every answer — auditability built in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Hallucination drops </a:t>
            </a:r>
            <a:r>
              <a:rPr b="1" dirty="0">
                <a:solidFill>
                  <a:srgbClr val="F46E32"/>
                </a:solidFill>
                <a:latin typeface="Calibri"/>
              </a:rPr>
              <a:t>dramatically</a:t>
            </a:r>
            <a:r>
              <a:rPr dirty="0">
                <a:solidFill>
                  <a:srgbClr val="FFFFFF"/>
                </a:solidFill>
                <a:latin typeface="Calibri"/>
              </a:rPr>
              <a:t> when the LLM has the right text in front of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Real Problem in RAG is Retrieval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29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RAG is </a:t>
            </a:r>
            <a:r>
              <a:rPr b="1" dirty="0">
                <a:solidFill>
                  <a:srgbClr val="F46E32"/>
                </a:solidFill>
                <a:latin typeface="Calibri"/>
              </a:rPr>
              <a:t>only as good as the chunks you send to the LLM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Garbage in, garbage out</a:t>
            </a:r>
            <a:r>
              <a:rPr dirty="0">
                <a:solidFill>
                  <a:srgbClr val="FFFFFF"/>
                </a:solidFill>
                <a:latin typeface="Calibri"/>
              </a:rPr>
              <a:t> — irrelevant context = confident wrong answers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Two failure modes dominate retrieval: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    — </a:t>
            </a:r>
            <a:r>
              <a:rPr b="1" dirty="0">
                <a:solidFill>
                  <a:srgbClr val="F46E32"/>
                </a:solidFill>
                <a:latin typeface="Calibri"/>
              </a:rPr>
              <a:t>Recall failure:</a:t>
            </a:r>
            <a:r>
              <a:rPr dirty="0">
                <a:solidFill>
                  <a:srgbClr val="FFFFFF"/>
                </a:solidFill>
                <a:latin typeface="Calibri"/>
              </a:rPr>
              <a:t> the right chunk was never fetched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    — </a:t>
            </a:r>
            <a:r>
              <a:rPr b="1" dirty="0">
                <a:solidFill>
                  <a:srgbClr val="F46E32"/>
                </a:solidFill>
                <a:latin typeface="Calibri"/>
              </a:rPr>
              <a:t>Ranking failure:</a:t>
            </a:r>
            <a:r>
              <a:rPr dirty="0">
                <a:solidFill>
                  <a:srgbClr val="FFFFFF"/>
                </a:solidFill>
                <a:latin typeface="Calibri"/>
              </a:rPr>
              <a:t> the right chunk was fetched but buried below noise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Most teams blame the LLM when </a:t>
            </a:r>
            <a:r>
              <a:rPr b="1" dirty="0">
                <a:solidFill>
                  <a:srgbClr val="F46E32"/>
                </a:solidFill>
                <a:latin typeface="Calibri"/>
              </a:rPr>
              <a:t>the bug is upstream in the retriever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The retriever is the highest-leverage component to optimize</a:t>
            </a:r>
            <a:r>
              <a:rPr dirty="0">
                <a:solidFill>
                  <a:srgbClr val="FFFFFF"/>
                </a:solidFill>
                <a:latin typeface="Calibri"/>
              </a:rPr>
              <a:t> in any RAG system</a:t>
            </a:r>
          </a:p>
          <a:p>
            <a:pPr algn="l">
              <a:spcAft>
                <a:spcPts val="700"/>
              </a:spcAft>
            </a:pPr>
            <a:r>
              <a:rPr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dirty="0">
                <a:solidFill>
                  <a:srgbClr val="FFFFFF"/>
                </a:solidFill>
                <a:latin typeface="Calibri"/>
              </a:rPr>
              <a:t>Two complementary approaches: </a:t>
            </a:r>
            <a:r>
              <a:rPr b="1" dirty="0">
                <a:solidFill>
                  <a:srgbClr val="F46E32"/>
                </a:solidFill>
                <a:latin typeface="Calibri"/>
              </a:rPr>
              <a:t>dense (semantic)</a:t>
            </a:r>
            <a:r>
              <a:rPr dirty="0">
                <a:solidFill>
                  <a:srgbClr val="FFFFFF"/>
                </a:solidFill>
                <a:latin typeface="Calibri"/>
              </a:rPr>
              <a:t> and </a:t>
            </a:r>
            <a:r>
              <a:rPr b="1" dirty="0">
                <a:solidFill>
                  <a:srgbClr val="F46E32"/>
                </a:solidFill>
                <a:latin typeface="Calibri"/>
              </a:rPr>
              <a:t>sparse (lexical)</a:t>
            </a:r>
            <a:r>
              <a:rPr dirty="0">
                <a:solidFill>
                  <a:srgbClr val="FFFFFF"/>
                </a:solidFill>
                <a:latin typeface="Calibri"/>
              </a:rPr>
              <a:t>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6563" y="5507103"/>
            <a:ext cx="10972800" cy="3693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b="1" dirty="0">
                <a:solidFill>
                  <a:srgbClr val="F46E32"/>
                </a:solidFill>
                <a:latin typeface="Calibri"/>
              </a:rPr>
              <a:t>Fix retrieval first. Everything downstream gets cheaper.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Dense (Semantic) Retrieval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Encode query and documents into </a:t>
            </a:r>
            <a:r>
              <a:rPr sz="1800" b="1">
                <a:solidFill>
                  <a:srgbClr val="F46E32"/>
                </a:solidFill>
                <a:latin typeface="Calibri"/>
              </a:rPr>
              <a:t>dense vectors</a:t>
            </a:r>
            <a:r>
              <a:rPr sz="1800">
                <a:solidFill>
                  <a:srgbClr val="FFFFFF"/>
                </a:solidFill>
                <a:latin typeface="Calibri"/>
              </a:rPr>
              <a:t> in the same embedding space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Similarity = </a:t>
            </a:r>
            <a:r>
              <a:rPr sz="1800" b="1">
                <a:solidFill>
                  <a:srgbClr val="F46E32"/>
                </a:solidFill>
                <a:latin typeface="Calibri"/>
              </a:rPr>
              <a:t>cosine distance</a:t>
            </a:r>
            <a:r>
              <a:rPr sz="1800">
                <a:solidFill>
                  <a:srgbClr val="FFFFFF"/>
                </a:solidFill>
                <a:latin typeface="Calibri"/>
              </a:rPr>
              <a:t> between query vector and chunk vectors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Powered by </a:t>
            </a:r>
            <a:r>
              <a:rPr sz="1800" b="1">
                <a:solidFill>
                  <a:srgbClr val="F46E32"/>
                </a:solidFill>
                <a:latin typeface="Calibri"/>
              </a:rPr>
              <a:t>sentence-transformer</a:t>
            </a:r>
            <a:r>
              <a:rPr sz="1800">
                <a:solidFill>
                  <a:srgbClr val="FFFFFF"/>
                </a:solidFill>
                <a:latin typeface="Calibri"/>
              </a:rPr>
              <a:t> models like all-mpnet-base-v2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Strengths:</a:t>
            </a:r>
            <a:r>
              <a:rPr sz="1800">
                <a:solidFill>
                  <a:srgbClr val="FFFFFF"/>
                </a:solidFill>
                <a:latin typeface="Calibri"/>
              </a:rPr>
              <a:t> captures meaning, paraphrase, synonyms, and conceptual 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Handles queries like </a:t>
            </a:r>
            <a:r>
              <a:rPr sz="1800" b="1">
                <a:solidFill>
                  <a:srgbClr val="F46E32"/>
                </a:solidFill>
                <a:latin typeface="Calibri"/>
              </a:rPr>
              <a:t>"affordable smartphones for elderly"</a:t>
            </a:r>
            <a:r>
              <a:rPr sz="1800">
                <a:solidFill>
                  <a:srgbClr val="FFFFFF"/>
                </a:solidFill>
                <a:latin typeface="Calibri"/>
              </a:rPr>
              <a:t> matching docs about "senior-friendly budget phones"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Weaknesses:</a:t>
            </a:r>
            <a:r>
              <a:rPr sz="1800">
                <a:solidFill>
                  <a:srgbClr val="FFFFFF"/>
                </a:solidFill>
                <a:latin typeface="Calibri"/>
              </a:rPr>
              <a:t> misses rare exact terms, proper nouns, identifiers, codes, and acronyms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Indexed once, served fast via </a:t>
            </a:r>
            <a:r>
              <a:rPr sz="1800" b="1">
                <a:solidFill>
                  <a:srgbClr val="F46E32"/>
                </a:solidFill>
                <a:latin typeface="Calibri"/>
              </a:rPr>
              <a:t>FAISS</a:t>
            </a:r>
            <a:r>
              <a:rPr sz="1800">
                <a:solidFill>
                  <a:srgbClr val="FFFFFF"/>
                </a:solidFill>
                <a:latin typeface="Calibri"/>
              </a:rPr>
              <a:t> or similar approximate-nearest-neighbor library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Scales to millions of chunks with sub-100ms retrieval on a single CPU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Dense retrieval understands meaning — but it forgets exact words.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Sparse (Lexical) Retrieval — BM25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BM25</a:t>
            </a:r>
            <a:r>
              <a:rPr sz="1800">
                <a:solidFill>
                  <a:srgbClr val="FFFFFF"/>
                </a:solidFill>
                <a:latin typeface="Calibri"/>
              </a:rPr>
              <a:t> is a ranking function based on term frequency and inverse document frequency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Measures </a:t>
            </a:r>
            <a:r>
              <a:rPr sz="1800" b="1">
                <a:solidFill>
                  <a:srgbClr val="F46E32"/>
                </a:solidFill>
                <a:latin typeface="Calibri"/>
              </a:rPr>
              <a:t>how rare and how concentrated</a:t>
            </a:r>
            <a:r>
              <a:rPr sz="1800">
                <a:solidFill>
                  <a:srgbClr val="FFFFFF"/>
                </a:solidFill>
                <a:latin typeface="Calibri"/>
              </a:rPr>
              <a:t> a query term is in a document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No training, no embeddings</a:t>
            </a:r>
            <a:r>
              <a:rPr sz="1800">
                <a:solidFill>
                  <a:srgbClr val="FFFFFF"/>
                </a:solidFill>
                <a:latin typeface="Calibri"/>
              </a:rPr>
              <a:t> — pure statistics over tokenized 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Strengths:</a:t>
            </a:r>
            <a:r>
              <a:rPr sz="1800">
                <a:solidFill>
                  <a:srgbClr val="FFFFFF"/>
                </a:solidFill>
                <a:latin typeface="Calibri"/>
              </a:rPr>
              <a:t> exact-keyword match, proper nouns, IDs, codes, error messages, version numbers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Handles queries like </a:t>
            </a:r>
            <a:r>
              <a:rPr sz="1800" b="1">
                <a:solidFill>
                  <a:srgbClr val="F46E32"/>
                </a:solidFill>
                <a:latin typeface="Calibri"/>
              </a:rPr>
              <a:t>"ORA-04031 fix"</a:t>
            </a:r>
            <a:r>
              <a:rPr sz="1800">
                <a:solidFill>
                  <a:srgbClr val="FFFFFF"/>
                </a:solidFill>
                <a:latin typeface="Calibri"/>
              </a:rPr>
              <a:t> or </a:t>
            </a:r>
            <a:r>
              <a:rPr sz="1800" b="1">
                <a:solidFill>
                  <a:srgbClr val="F46E32"/>
                </a:solidFill>
                <a:latin typeface="Calibri"/>
              </a:rPr>
              <a:t>"iPhone 15 Pro Max specs"</a:t>
            </a:r>
            <a:r>
              <a:rPr sz="1800">
                <a:solidFill>
                  <a:srgbClr val="FFFFFF"/>
                </a:solidFill>
                <a:latin typeface="Calibri"/>
              </a:rPr>
              <a:t> with surgical precision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Weaknesses:</a:t>
            </a:r>
            <a:r>
              <a:rPr sz="1800">
                <a:solidFill>
                  <a:srgbClr val="FFFFFF"/>
                </a:solidFill>
                <a:latin typeface="Calibri"/>
              </a:rPr>
              <a:t> misses synonyms ("car" vs "automobile") and reformulated queries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Battle-tested for decades — powers </a:t>
            </a:r>
            <a:r>
              <a:rPr sz="1800" b="1">
                <a:solidFill>
                  <a:srgbClr val="F46E32"/>
                </a:solidFill>
                <a:latin typeface="Calibri"/>
              </a:rPr>
              <a:t>Elasticsearch, Lucene, Solr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Almost free to compute, easy to debug, easy to explain to stakeholders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BM25 remembers the words. mpnet remembers the meaning. We need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Hybrid RAG — Dense + Sparse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Dense and sparse fail in different ways. So combine them.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440680" cy="5943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Dense (Semantic)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5440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all-mpnet-base-v2 embeddings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FAISS cosine 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Wins on paraphrase and concept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Loses on rare exact terms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11680"/>
            <a:ext cx="5440680" cy="59436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Sparse (Lexical)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97480"/>
            <a:ext cx="5440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BM25 Okapi over tokens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Term frequency × IDF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Wins on names, IDs, exact matches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Loses on synonyms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Pull </a:t>
            </a:r>
            <a:r>
              <a:rPr sz="1800" b="1">
                <a:solidFill>
                  <a:srgbClr val="F46E32"/>
                </a:solidFill>
                <a:latin typeface="Calibri"/>
              </a:rPr>
              <a:t>top-50 from each</a:t>
            </a:r>
            <a:r>
              <a:rPr sz="1800">
                <a:solidFill>
                  <a:srgbClr val="FFFFFF"/>
                </a:solidFill>
                <a:latin typeface="Calibri"/>
              </a:rPr>
              <a:t> retriever in parallel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Fuse the two ranked lists</a:t>
            </a:r>
            <a:r>
              <a:rPr sz="1800">
                <a:solidFill>
                  <a:srgbClr val="FFFFFF"/>
                </a:solidFill>
                <a:latin typeface="Calibri"/>
              </a:rPr>
              <a:t> with Reciprocal Rank Fusion (RRF)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The fused list is more robust than either retriever alone — </a:t>
            </a:r>
            <a:r>
              <a:rPr sz="1800" b="1">
                <a:solidFill>
                  <a:srgbClr val="F46E32"/>
                </a:solidFill>
                <a:latin typeface="Calibri"/>
              </a:rPr>
              <a:t>complementary failure modes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Hybrid retrieval is robust because dense and sparse fail differently.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Reciprocal Rank Fusion (RRF)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AAAAA"/>
                </a:solidFill>
                <a:latin typeface="Calibri"/>
              </a:rPr>
              <a:t>A rank-based fusion method — no score normalization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10332720" cy="182880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score(d) = Σ  1 / (k + rank_i(d))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             over each retriever i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0E0E0"/>
                </a:solidFill>
                <a:latin typeface="Consolas"/>
              </a:rPr>
              <a:t>k = 60   (a constant that dampens top-rank dominance)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Each document gets a </a:t>
            </a:r>
            <a:r>
              <a:rPr sz="1800" b="1">
                <a:solidFill>
                  <a:srgbClr val="F46E32"/>
                </a:solidFill>
                <a:latin typeface="Calibri"/>
              </a:rPr>
              <a:t>contribution from every retriever</a:t>
            </a:r>
            <a:r>
              <a:rPr sz="1800">
                <a:solidFill>
                  <a:srgbClr val="FFFFFF"/>
                </a:solidFill>
                <a:latin typeface="Calibri"/>
              </a:rPr>
              <a:t> it appears in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Rank, not score</a:t>
            </a:r>
            <a:r>
              <a:rPr sz="1800">
                <a:solidFill>
                  <a:srgbClr val="FFFFFF"/>
                </a:solidFill>
                <a:latin typeface="Calibri"/>
              </a:rPr>
              <a:t> — solves the calibration problem between heterogeneous retrievers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Robust:</a:t>
            </a:r>
            <a:r>
              <a:rPr sz="1800">
                <a:solidFill>
                  <a:srgbClr val="FFFFFF"/>
                </a:solidFill>
                <a:latin typeface="Calibri"/>
              </a:rPr>
              <a:t> works without normalizing cosine similarity vs BM25 raw scores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Tunable:</a:t>
            </a:r>
            <a:r>
              <a:rPr sz="1800">
                <a:solidFill>
                  <a:srgbClr val="FFFFFF"/>
                </a:solidFill>
                <a:latin typeface="Calibri"/>
              </a:rPr>
              <a:t> k controls how harshly we discount lower ranks (60 is the published default)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Documents that appear high in </a:t>
            </a:r>
            <a:r>
              <a:rPr sz="1800" b="1">
                <a:solidFill>
                  <a:srgbClr val="F46E32"/>
                </a:solidFill>
                <a:latin typeface="Calibri"/>
              </a:rPr>
              <a:t>both lists</a:t>
            </a:r>
            <a:r>
              <a:rPr sz="1800">
                <a:solidFill>
                  <a:srgbClr val="FFFFFF"/>
                </a:solidFill>
                <a:latin typeface="Calibri"/>
              </a:rPr>
              <a:t> rise to the top — that's the magic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If a doc appears at rank 1 in one list and rank 50 in the other, it still beats most singletons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The Re-Ranker — A Smarter Second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Hybrid RAG gives us a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good candidate pool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of ~25 chunks — but ranking is still imperfect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The top-3 of that pool may not be the best 3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for the actual question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A re-ranker takes the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fused candidate list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and rescores each (query, chunk) pair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It uses a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stronger but slower model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that we can afford to run on a small batch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Two-stage retrieval: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fast bi-encoder narrows the field → slow cross-encoder picks winners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This pattern is borrowed from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classical information retrieval and web search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</a:t>
            </a:r>
            <a:r>
              <a:rPr sz="1800" dirty="0">
                <a:solidFill>
                  <a:srgbClr val="FFFFFF"/>
                </a:solidFill>
                <a:latin typeface="Calibri"/>
              </a:rPr>
              <a:t>It is the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single highest-ROI improvement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you can add to a working RAG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The re-ranker rescues the right chunks that hybrid retrieval ranks 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Bi-Encoder vs Cross-Encoder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44068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Bi-Encoder (Stage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5440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Encodes query and document </a:t>
            </a:r>
            <a:r>
              <a:rPr sz="1800" b="1">
                <a:solidFill>
                  <a:srgbClr val="F46E32"/>
                </a:solidFill>
                <a:latin typeface="Calibri"/>
              </a:rPr>
              <a:t>separately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Compares with </a:t>
            </a:r>
            <a:r>
              <a:rPr sz="1800" b="1">
                <a:solidFill>
                  <a:srgbClr val="F46E32"/>
                </a:solidFill>
                <a:latin typeface="Calibri"/>
              </a:rPr>
              <a:t>cosine 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Document vectors are </a:t>
            </a:r>
            <a:r>
              <a:rPr sz="1800" b="1">
                <a:solidFill>
                  <a:srgbClr val="F46E32"/>
                </a:solidFill>
                <a:latin typeface="Calibri"/>
              </a:rPr>
              <a:t>pre-computed</a:t>
            </a:r>
            <a:r>
              <a:rPr sz="1800">
                <a:solidFill>
                  <a:srgbClr val="FFFFFF"/>
                </a:solidFill>
                <a:latin typeface="Calibri"/>
              </a:rPr>
              <a:t> at index time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Very fast</a:t>
            </a:r>
            <a:r>
              <a:rPr sz="1800">
                <a:solidFill>
                  <a:srgbClr val="FFFFFF"/>
                </a:solidFill>
                <a:latin typeface="Calibri"/>
              </a:rPr>
              <a:t> at query time — pure lookup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Less accurate on subtle relevance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Used for </a:t>
            </a:r>
            <a:r>
              <a:rPr sz="1800" b="1">
                <a:solidFill>
                  <a:srgbClr val="F46E32"/>
                </a:solidFill>
                <a:latin typeface="Calibri"/>
              </a:rPr>
              <a:t>fast first-stage retrieval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54480"/>
            <a:ext cx="5440680" cy="64008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Cross-Encoder (Stage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5440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Encodes query and document </a:t>
            </a:r>
            <a:r>
              <a:rPr sz="1800" b="1">
                <a:solidFill>
                  <a:srgbClr val="F46E32"/>
                </a:solidFill>
                <a:latin typeface="Calibri"/>
              </a:rPr>
              <a:t>jointly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Full attention</a:t>
            </a:r>
            <a:r>
              <a:rPr sz="1800">
                <a:solidFill>
                  <a:srgbClr val="FFFFFF"/>
                </a:solidFill>
                <a:latin typeface="Calibri"/>
              </a:rPr>
              <a:t> between every query and passage token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Cannot pre-compute — slower per pair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Much higher precision</a:t>
            </a:r>
            <a:r>
              <a:rPr sz="1800">
                <a:solidFill>
                  <a:srgbClr val="FFFFFF"/>
                </a:solidFill>
                <a:latin typeface="Calibri"/>
              </a:rPr>
              <a:t> on fine-grained relevance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Trained on relevance datasets like </a:t>
            </a:r>
            <a:r>
              <a:rPr sz="1800" b="1">
                <a:solidFill>
                  <a:srgbClr val="F46E32"/>
                </a:solidFill>
                <a:latin typeface="Calibri"/>
              </a:rPr>
              <a:t>MS MARCO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Used for </a:t>
            </a:r>
            <a:r>
              <a:rPr sz="1800" b="1">
                <a:solidFill>
                  <a:srgbClr val="F46E32"/>
                </a:solidFill>
                <a:latin typeface="Calibri"/>
              </a:rPr>
              <a:t>second-stage rescoring</a:t>
            </a:r>
            <a:r>
              <a:rPr sz="1800">
                <a:solidFill>
                  <a:srgbClr val="FFFFFF"/>
                </a:solidFill>
                <a:latin typeface="Calibri"/>
              </a:rPr>
              <a:t> of small pools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Bi-encoders go wide. Cross-encoders go deep. Use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Our Hybrid RAG + Re-Ranker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51560" y="1280160"/>
            <a:ext cx="9418320" cy="512064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08760" y="1508760"/>
            <a:ext cx="9144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Query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├──▶ Dense Index   (</a:t>
            </a:r>
            <a:r>
              <a:rPr dirty="0" err="1">
                <a:solidFill>
                  <a:srgbClr val="E0E0E0"/>
                </a:solidFill>
                <a:latin typeface="Consolas"/>
              </a:rPr>
              <a:t>mpnet</a:t>
            </a:r>
            <a:r>
              <a:rPr dirty="0">
                <a:solidFill>
                  <a:srgbClr val="E0E0E0"/>
                </a:solidFill>
                <a:latin typeface="Consolas"/>
              </a:rPr>
              <a:t> + FAISS)   ──▶  Top 50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└──▶ BM25 Index    (Okapi)           ──▶  Top 50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Reciprocal Rank Fusion (k = 60)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Top 25 candidate pool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Cross-Encoder Re-Rank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(cross-encoder/ms-marco-MiniLM-L-6-v2)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│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    ▼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Top 6 chunks  →  Flan-T5  →  Grounded Answer +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Code: HybridRAG.retrieve()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01283" y="1436586"/>
            <a:ext cx="11247120" cy="4937760"/>
          </a:xfrm>
          <a:prstGeom prst="roundRect">
            <a:avLst/>
          </a:prstGeom>
          <a:solidFill>
            <a:srgbClr val="221B1F"/>
          </a:solidFill>
          <a:ln w="952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508760"/>
            <a:ext cx="10972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def retrieve(self, query,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top_k</a:t>
            </a:r>
            <a:r>
              <a:rPr dirty="0">
                <a:solidFill>
                  <a:srgbClr val="E0E0E0"/>
                </a:solidFill>
                <a:latin typeface="Consolas"/>
              </a:rPr>
              <a:t>=50,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r>
              <a:rPr dirty="0">
                <a:solidFill>
                  <a:srgbClr val="E0E0E0"/>
                </a:solidFill>
                <a:latin typeface="Consolas"/>
              </a:rPr>
              <a:t>=6,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use_reranker</a:t>
            </a:r>
            <a:r>
              <a:rPr dirty="0">
                <a:solidFill>
                  <a:srgbClr val="E0E0E0"/>
                </a:solidFill>
                <a:latin typeface="Consolas"/>
              </a:rPr>
              <a:t>=False,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rerank_pool</a:t>
            </a:r>
            <a:r>
              <a:rPr dirty="0">
                <a:solidFill>
                  <a:srgbClr val="E0E0E0"/>
                </a:solidFill>
                <a:latin typeface="Consolas"/>
              </a:rPr>
              <a:t>=25):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dense_idx</a:t>
            </a:r>
            <a:r>
              <a:rPr dirty="0">
                <a:solidFill>
                  <a:srgbClr val="E0E0E0"/>
                </a:solidFill>
                <a:latin typeface="Consolas"/>
              </a:rPr>
              <a:t>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dense_sc</a:t>
            </a:r>
            <a:r>
              <a:rPr dirty="0">
                <a:solidFill>
                  <a:srgbClr val="E0E0E0"/>
                </a:solidFill>
                <a:latin typeface="Consolas"/>
              </a:rPr>
              <a:t>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self.dense_index.search</a:t>
            </a:r>
            <a:r>
              <a:rPr dirty="0">
                <a:solidFill>
                  <a:srgbClr val="E0E0E0"/>
                </a:solidFill>
                <a:latin typeface="Consolas"/>
              </a:rPr>
              <a:t>(query,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top_k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bm25_idx,  bm25_sc  = self.bm25_index.search(query,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top_k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fused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reciprocal_rank_fusion</a:t>
            </a:r>
            <a:r>
              <a:rPr dirty="0">
                <a:solidFill>
                  <a:srgbClr val="E0E0E0"/>
                </a:solidFill>
                <a:latin typeface="Consolas"/>
              </a:rPr>
              <a:t>(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dense_idx</a:t>
            </a:r>
            <a:r>
              <a:rPr dirty="0">
                <a:solidFill>
                  <a:srgbClr val="E0E0E0"/>
                </a:solidFill>
                <a:latin typeface="Consolas"/>
              </a:rPr>
              <a:t>, bm25_idx,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fusion_constant</a:t>
            </a:r>
            <a:r>
              <a:rPr dirty="0">
                <a:solidFill>
                  <a:srgbClr val="E0E0E0"/>
                </a:solidFill>
                <a:latin typeface="Consolas"/>
              </a:rPr>
              <a:t>=</a:t>
            </a:r>
            <a:r>
              <a:rPr dirty="0" err="1">
                <a:solidFill>
                  <a:srgbClr val="E0E0E0"/>
                </a:solidFill>
                <a:latin typeface="Consolas"/>
              </a:rPr>
              <a:t>self.rrf_constant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</a:t>
            </a:r>
            <a:r>
              <a:rPr dirty="0" err="1">
                <a:solidFill>
                  <a:srgbClr val="E0E0E0"/>
                </a:solidFill>
                <a:latin typeface="Consolas"/>
              </a:rPr>
              <a:t>first_n</a:t>
            </a:r>
            <a:r>
              <a:rPr dirty="0">
                <a:solidFill>
                  <a:srgbClr val="E0E0E0"/>
                </a:solidFill>
                <a:latin typeface="Consolas"/>
              </a:rPr>
              <a:t> = max(</a:t>
            </a:r>
            <a:r>
              <a:rPr dirty="0" err="1">
                <a:solidFill>
                  <a:srgbClr val="E0E0E0"/>
                </a:solidFill>
                <a:latin typeface="Consolas"/>
              </a:rPr>
              <a:t>rerank_pool</a:t>
            </a:r>
            <a:r>
              <a:rPr dirty="0">
                <a:solidFill>
                  <a:srgbClr val="E0E0E0"/>
                </a:solidFill>
                <a:latin typeface="Consolas"/>
              </a:rPr>
              <a:t>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r>
              <a:rPr dirty="0">
                <a:solidFill>
                  <a:srgbClr val="E0E0E0"/>
                </a:solidFill>
                <a:latin typeface="Consolas"/>
              </a:rPr>
              <a:t>) \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  if </a:t>
            </a:r>
            <a:r>
              <a:rPr dirty="0" err="1">
                <a:solidFill>
                  <a:srgbClr val="E0E0E0"/>
                </a:solidFill>
                <a:latin typeface="Consolas"/>
              </a:rPr>
              <a:t>use_reranker</a:t>
            </a:r>
            <a:r>
              <a:rPr dirty="0">
                <a:solidFill>
                  <a:srgbClr val="E0E0E0"/>
                </a:solidFill>
                <a:latin typeface="Consolas"/>
              </a:rPr>
              <a:t> else 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endParaRPr dirty="0">
              <a:solidFill>
                <a:srgbClr val="E0E0E0"/>
              </a:solidFill>
              <a:latin typeface="Consolas"/>
            </a:endParaRP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candidates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build_retrieved</a:t>
            </a:r>
            <a:r>
              <a:rPr dirty="0">
                <a:solidFill>
                  <a:srgbClr val="E0E0E0"/>
                </a:solidFill>
                <a:latin typeface="Consolas"/>
              </a:rPr>
              <a:t>(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top_n_by_score</a:t>
            </a:r>
            <a:r>
              <a:rPr dirty="0">
                <a:solidFill>
                  <a:srgbClr val="E0E0E0"/>
                </a:solidFill>
                <a:latin typeface="Consolas"/>
              </a:rPr>
              <a:t>(fused,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first_n</a:t>
            </a:r>
            <a:r>
              <a:rPr dirty="0">
                <a:solidFill>
                  <a:srgbClr val="E0E0E0"/>
                </a:solidFill>
                <a:latin typeface="Consolas"/>
              </a:rPr>
              <a:t>))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if </a:t>
            </a:r>
            <a:r>
              <a:rPr dirty="0" err="1">
                <a:solidFill>
                  <a:srgbClr val="E0E0E0"/>
                </a:solidFill>
                <a:latin typeface="Consolas"/>
              </a:rPr>
              <a:t>use_reranker</a:t>
            </a:r>
            <a:r>
              <a:rPr dirty="0">
                <a:solidFill>
                  <a:srgbClr val="E0E0E0"/>
                </a:solidFill>
                <a:latin typeface="Consolas"/>
              </a:rPr>
              <a:t>: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candidates = </a:t>
            </a:r>
            <a:r>
              <a:rPr dirty="0" err="1">
                <a:solidFill>
                  <a:srgbClr val="E0E0E0"/>
                </a:solidFill>
                <a:latin typeface="Consolas"/>
              </a:rPr>
              <a:t>self.reranker.rerank</a:t>
            </a:r>
            <a:r>
              <a:rPr dirty="0">
                <a:solidFill>
                  <a:srgbClr val="E0E0E0"/>
                </a:solidFill>
                <a:latin typeface="Consolas"/>
              </a:rPr>
              <a:t>(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        query, candidates, </a:t>
            </a:r>
            <a:r>
              <a:rPr dirty="0" err="1">
                <a:solidFill>
                  <a:srgbClr val="E0E0E0"/>
                </a:solidFill>
                <a:latin typeface="Consolas"/>
              </a:rPr>
              <a:t>top_n</a:t>
            </a:r>
            <a:r>
              <a:rPr dirty="0">
                <a:solidFill>
                  <a:srgbClr val="E0E0E0"/>
                </a:solidFill>
                <a:latin typeface="Consolas"/>
              </a:rPr>
              <a:t>=</a:t>
            </a:r>
            <a:r>
              <a:rPr dirty="0" err="1">
                <a:solidFill>
                  <a:srgbClr val="E0E0E0"/>
                </a:solidFill>
                <a:latin typeface="Consolas"/>
              </a:rPr>
              <a:t>context_size</a:t>
            </a:r>
            <a:r>
              <a:rPr dirty="0">
                <a:solidFill>
                  <a:srgbClr val="E0E0E0"/>
                </a:solidFill>
                <a:latin typeface="Consolas"/>
              </a:rPr>
              <a:t>)</a:t>
            </a:r>
          </a:p>
          <a:p>
            <a:pPr algn="l"/>
            <a:r>
              <a:rPr dirty="0">
                <a:solidFill>
                  <a:srgbClr val="E0E0E0"/>
                </a:solidFill>
                <a:latin typeface="Consolas"/>
              </a:rPr>
              <a:t>    return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Dataset and 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Corpus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500 Wikipedia URLs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— 200 fixed travel articles + 300 random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9,083 chunks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of 200–400 tokens each, with 50-token overlap</a:t>
            </a: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100 evaluation questions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across factual, descriptive, comparative, inferential, and multi-hop categories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46E32"/>
                </a:solidFill>
                <a:latin typeface="Calibri"/>
              </a:rPr>
              <a:t>Open-Source Stack — runs on CPU, no API keys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Dense:</a:t>
            </a:r>
            <a:r>
              <a:rPr sz="1800">
                <a:solidFill>
                  <a:srgbClr val="FFFFFF"/>
                </a:solidFill>
                <a:latin typeface="Calibri"/>
              </a:rPr>
              <a:t> sentence-transformers / all-mpnet-base-v2  +  FAISS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Sparse:</a:t>
            </a:r>
            <a:r>
              <a:rPr sz="1800">
                <a:solidFill>
                  <a:srgbClr val="FFFFFF"/>
                </a:solidFill>
                <a:latin typeface="Calibri"/>
              </a:rPr>
              <a:t> rank-bm25 (Okapi)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Reranker:</a:t>
            </a:r>
            <a:r>
              <a:rPr sz="1800">
                <a:solidFill>
                  <a:srgbClr val="FFFFFF"/>
                </a:solidFill>
                <a:latin typeface="Calibri"/>
              </a:rPr>
              <a:t> cross-encoder / ms-marco-MiniLM-L-6-v2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Generator:</a:t>
            </a:r>
            <a:r>
              <a:rPr sz="1800">
                <a:solidFill>
                  <a:srgbClr val="FFFFFF"/>
                </a:solidFill>
                <a:latin typeface="Calibri"/>
              </a:rPr>
              <a:t> google / flan-t5-base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UI:</a:t>
            </a:r>
            <a:r>
              <a:rPr sz="1800">
                <a:solidFill>
                  <a:srgbClr val="FFFFFF"/>
                </a:solidFill>
                <a:latin typeface="Calibri"/>
              </a:rPr>
              <a:t> Streamlit  •  end-to-end latency ~1.5–2s on CPU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Evaluation — Standard + Custom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Standard retrieval and faithfulness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MRR (Mean Reciprocal Rank)</a:t>
            </a:r>
            <a:r>
              <a:rPr sz="1800">
                <a:solidFill>
                  <a:srgbClr val="FFFFFF"/>
                </a:solidFill>
                <a:latin typeface="Calibri"/>
              </a:rPr>
              <a:t> — where the correct source ranks in retrieval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HitRate@K</a:t>
            </a:r>
            <a:r>
              <a:rPr sz="1800">
                <a:solidFill>
                  <a:srgbClr val="FFFFFF"/>
                </a:solidFill>
                <a:latin typeface="Calibri"/>
              </a:rPr>
              <a:t> — was the correct doc in the top-K? Coarse but useful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CSFS (Claim-Level Faithfulness)</a:t>
            </a:r>
            <a:r>
              <a:rPr sz="1800">
                <a:solidFill>
                  <a:srgbClr val="FFFFFF"/>
                </a:solidFill>
                <a:latin typeface="Calibri"/>
              </a:rPr>
              <a:t> — does each claim trace back to context? Hallucination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Our custom metrics — answer-quality, not just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CUS — Context Utilization Score:</a:t>
            </a:r>
            <a:r>
              <a:rPr sz="1800">
                <a:solidFill>
                  <a:srgbClr val="FFFFFF"/>
                </a:solidFill>
                <a:latin typeface="Calibri"/>
              </a:rPr>
              <a:t> did the answer actually use the retrieved context?  0.4 × keyword_overlap + 0.6 × semantic_similarity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ACS — Answer Completeness Score:</a:t>
            </a:r>
            <a:r>
              <a:rPr sz="1800">
                <a:solidFill>
                  <a:srgbClr val="FFFFFF"/>
                </a:solidFill>
                <a:latin typeface="Calibri"/>
              </a:rPr>
              <a:t> does the answer address the question? Penalizes evasive non-answers, tolerates short factual replies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Why both:</a:t>
            </a:r>
            <a:r>
              <a:rPr sz="1800">
                <a:solidFill>
                  <a:srgbClr val="FFFFFF"/>
                </a:solidFill>
                <a:latin typeface="Calibri"/>
              </a:rPr>
              <a:t> MRR and HitRate measure retrieval. CSFS measures honesty. </a:t>
            </a:r>
            <a:r>
              <a:rPr sz="1800" b="1">
                <a:solidFill>
                  <a:srgbClr val="F46E32"/>
                </a:solidFill>
                <a:latin typeface="Calibri"/>
              </a:rPr>
              <a:t>CUS and ACS measure whether the LLM is using what we worked so hard to retrieve.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Results — 100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27432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3383280" y="1463040"/>
            <a:ext cx="18288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463040"/>
            <a:ext cx="6858000" cy="45720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MRR (URL-level)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9202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0.7978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9202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Good retrieval ranking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7744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HitRate@5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37744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0.9300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237744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93% correct source in top-5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HitRate@10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8346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0.9300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28346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Same as @5 — top-5 is enough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9184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CSFS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29184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0.0122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29184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Low — short answers are hard to verify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7490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7490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0.7208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37490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Answers genuinely use the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06240"/>
            <a:ext cx="27432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4206240"/>
            <a:ext cx="18288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0.6368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4206240"/>
            <a:ext cx="6858000" cy="457200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Answers properly address the question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27432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Avg Latency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4663440"/>
            <a:ext cx="18288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1600 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0" y="4663440"/>
            <a:ext cx="6858000" cy="45720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End-to-end (without reranker)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1208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93% HitRate@5</a:t>
            </a:r>
            <a:r>
              <a:rPr sz="1800">
                <a:solidFill>
                  <a:srgbClr val="FFFFFF"/>
                </a:solidFill>
                <a:latin typeface="Calibri"/>
              </a:rPr>
              <a:t> means the right document is in the top-5 for almost every question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CUS 0.72</a:t>
            </a:r>
            <a:r>
              <a:rPr sz="1800">
                <a:solidFill>
                  <a:srgbClr val="FFFFFF"/>
                </a:solidFill>
                <a:latin typeface="Calibri"/>
              </a:rPr>
              <a:t> confirms the LLM is leaning on the retrieved chunks, not its own memory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CSFS is low because Flan-T5-base gives short answers</a:t>
            </a:r>
            <a:r>
              <a:rPr sz="1800">
                <a:solidFill>
                  <a:srgbClr val="FFFFFF"/>
                </a:solidFill>
                <a:latin typeface="Calibri"/>
              </a:rPr>
              <a:t> — fewer claims to verify, not less faithful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Ablation Study — Hybrid vs Single Retrievers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1554480"/>
            <a:ext cx="5029200" cy="50292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554480"/>
            <a:ext cx="1828800" cy="50292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MRR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554480"/>
            <a:ext cx="1828800" cy="502920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HitRate@5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057400"/>
            <a:ext cx="50292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Hybrid (Dense + BM25 + RRF)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05740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05740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2560320"/>
            <a:ext cx="50292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Dense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256032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56032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3063240"/>
            <a:ext cx="50292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Sparse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06324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3063240"/>
            <a:ext cx="1828800" cy="502920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this tells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8056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Dense beat hybrid here</a:t>
            </a:r>
            <a:r>
              <a:rPr sz="1800">
                <a:solidFill>
                  <a:srgbClr val="FFFFFF"/>
                </a:solidFill>
                <a:latin typeface="Calibri"/>
              </a:rPr>
              <a:t> — travel queries are mostly conceptual, mpnet handles proper nouns well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Sparse-only is the floor</a:t>
            </a:r>
            <a:r>
              <a:rPr sz="1800">
                <a:solidFill>
                  <a:srgbClr val="FFFFFF"/>
                </a:solidFill>
                <a:latin typeface="Calibri"/>
              </a:rPr>
              <a:t> — BM25 alone misses paraphrased questions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Hybrid is the safer default</a:t>
            </a:r>
            <a:r>
              <a:rPr sz="1800">
                <a:solidFill>
                  <a:srgbClr val="FFFFFF"/>
                </a:solidFill>
                <a:latin typeface="Calibri"/>
              </a:rPr>
              <a:t> across diverse query mixes — and </a:t>
            </a:r>
            <a:r>
              <a:rPr sz="1800" b="1">
                <a:solidFill>
                  <a:srgbClr val="F46E32"/>
                </a:solidFill>
                <a:latin typeface="Calibri"/>
              </a:rPr>
              <a:t>it's the best base for the reranker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The reranker is what makes hybrid pay off</a:t>
            </a:r>
            <a:r>
              <a:rPr sz="1800">
                <a:solidFill>
                  <a:srgbClr val="FFFFFF"/>
                </a:solidFill>
                <a:latin typeface="Calibri"/>
              </a:rPr>
              <a:t> — it cleans up the noise BM25 introduces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When to Use What — Decision Guide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AAAAA"/>
                </a:solidFill>
                <a:latin typeface="Calibri"/>
              </a:rPr>
              <a:t>Different query types deserve different retrieval stacks.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4754880" cy="530352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Your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645920"/>
            <a:ext cx="3474720" cy="530352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Best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645920"/>
            <a:ext cx="3200400" cy="530352"/>
          </a:xfrm>
          <a:prstGeom prst="rect">
            <a:avLst/>
          </a:prstGeom>
          <a:solidFill>
            <a:srgbClr val="F46E32"/>
          </a:solidFill>
          <a:ln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Why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76272"/>
            <a:ext cx="475488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Small corpus (&lt;1k docs), conceptual questions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2176272"/>
            <a:ext cx="347472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Dense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2176272"/>
            <a:ext cx="320040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Simpler, faster, recall is easy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06624"/>
            <a:ext cx="475488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Exact-match queries (IDs, codes, product SKUs)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2706624"/>
            <a:ext cx="347472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BM25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706624"/>
            <a:ext cx="320040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Keyword precision beats semantic blur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475488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Mixed query styles (most real systems)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3236976"/>
            <a:ext cx="347472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Hybrid (Dense + BM25 + RRF)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3236976"/>
            <a:ext cx="320040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Robust across paraphrases and exact terms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67328"/>
            <a:ext cx="475488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Quality matters more than latency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2080" y="3767328"/>
            <a:ext cx="347472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Hybrid + Cross-Encoder Re-Ranker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3767328"/>
            <a:ext cx="320040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Highest precision per millisecond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97680"/>
            <a:ext cx="475488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Highly structured data (relational records)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12080" y="4297680"/>
            <a:ext cx="347472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SQL / SPARQL, not 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4297680"/>
            <a:ext cx="3200400" cy="530352"/>
          </a:xfrm>
          <a:prstGeom prst="rect">
            <a:avLst/>
          </a:prstGeom>
          <a:solidFill>
            <a:srgbClr val="221B1F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Structured query beats vector 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28032"/>
            <a:ext cx="475488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Sub-100ms p99 latency budget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12080" y="4828032"/>
            <a:ext cx="347472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Dense only, no reranker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4828032"/>
            <a:ext cx="3200400" cy="530352"/>
          </a:xfrm>
          <a:prstGeom prst="rect">
            <a:avLst/>
          </a:prstGeom>
          <a:solidFill>
            <a:srgbClr val="2A2125"/>
          </a:solidFill>
          <a:ln w="6350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Reranker adds 300–800ms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Start with hybrid + reranker. Drop pieces only when latency or simplicity forces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Re-Ranker Impact — A Real Example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Query: "Where is the Burj Khalifa and when was it built?"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Without rerank</a:t>
            </a:r>
            <a:r>
              <a:rPr sz="1800">
                <a:solidFill>
                  <a:srgbClr val="FFFFFF"/>
                </a:solidFill>
                <a:latin typeface="Calibri"/>
              </a:rPr>
              <a:t> — the correct Burj Khalifa article was BM25 rank </a:t>
            </a:r>
            <a:r>
              <a:rPr sz="1800" b="1">
                <a:solidFill>
                  <a:srgbClr val="F46E32"/>
                </a:solidFill>
                <a:latin typeface="Calibri"/>
              </a:rPr>
              <a:t>12</a:t>
            </a:r>
            <a:r>
              <a:rPr sz="1800">
                <a:solidFill>
                  <a:srgbClr val="FFFFFF"/>
                </a:solidFill>
                <a:latin typeface="Calibri"/>
              </a:rPr>
              <a:t> → likely missed top-6 context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Dense retrieval</a:t>
            </a:r>
            <a:r>
              <a:rPr sz="1800">
                <a:solidFill>
                  <a:srgbClr val="FFFFFF"/>
                </a:solidFill>
                <a:latin typeface="Calibri"/>
              </a:rPr>
              <a:t> ranked it #1, but RRF averaged the two and pushed it to RRF rank ~5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With rerank</a:t>
            </a:r>
            <a:r>
              <a:rPr sz="1800">
                <a:solidFill>
                  <a:srgbClr val="FFFFFF"/>
                </a:solidFill>
                <a:latin typeface="Calibri"/>
              </a:rPr>
              <a:t> — the cross-encoder rescored every (query, chunk) pair jointly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It promoted Burj Khalifa to </a:t>
            </a:r>
            <a:r>
              <a:rPr sz="1800" b="1">
                <a:solidFill>
                  <a:srgbClr val="F46E32"/>
                </a:solidFill>
                <a:latin typeface="Calibri"/>
              </a:rPr>
              <a:t>position 1</a:t>
            </a:r>
            <a:r>
              <a:rPr sz="1800">
                <a:solidFill>
                  <a:srgbClr val="FFFFFF"/>
                </a:solidFill>
                <a:latin typeface="Calibri"/>
              </a:rPr>
              <a:t> with a rerank score of </a:t>
            </a:r>
            <a:r>
              <a:rPr sz="1800" b="1">
                <a:solidFill>
                  <a:srgbClr val="F46E32"/>
                </a:solidFill>
                <a:latin typeface="Calibri"/>
              </a:rPr>
              <a:t>3.41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Source 2</a:t>
            </a:r>
            <a:r>
              <a:rPr sz="1800">
                <a:solidFill>
                  <a:srgbClr val="FFFFFF"/>
                </a:solidFill>
                <a:latin typeface="Calibri"/>
              </a:rPr>
              <a:t> (Burj Al Arab) was a noisy near-match — reranker kept it but ranked it second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Latency cost</a:t>
            </a:r>
            <a:r>
              <a:rPr sz="1800">
                <a:solidFill>
                  <a:srgbClr val="FFFFFF"/>
                </a:solidFill>
                <a:latin typeface="Calibri"/>
              </a:rPr>
              <a:t> — about </a:t>
            </a:r>
            <a:r>
              <a:rPr sz="1800" b="1">
                <a:solidFill>
                  <a:srgbClr val="F46E32"/>
                </a:solidFill>
                <a:latin typeface="Calibri"/>
              </a:rPr>
              <a:t>300–800 ms</a:t>
            </a:r>
            <a:r>
              <a:rPr sz="1800">
                <a:solidFill>
                  <a:srgbClr val="FFFFFF"/>
                </a:solidFill>
                <a:latin typeface="Calibri"/>
              </a:rPr>
              <a:t> per query on CPU after model warm-up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Result:</a:t>
            </a:r>
            <a:r>
              <a:rPr sz="1800">
                <a:solidFill>
                  <a:srgbClr val="FFFFFF"/>
                </a:solidFill>
                <a:latin typeface="Calibri"/>
              </a:rPr>
              <a:t> the LLM got the right context and produced a grounded answer with citations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Cross-encoder reranking is the cheapest big quality win in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 Real-World Lesson — When Dense Alone Fails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10972800" cy="1234440"/>
          </a:xfrm>
          <a:prstGeom prst="roundRect">
            <a:avLst/>
          </a:prstGeom>
          <a:solidFill>
            <a:srgbClr val="221B1F"/>
          </a:solidFill>
          <a:ln w="15875">
            <a:solidFill>
              <a:srgbClr val="F46E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600" b="1">
                <a:solidFill>
                  <a:srgbClr val="F46E32"/>
                </a:solidFill>
                <a:latin typeface="Calibri"/>
              </a:rPr>
              <a:t>Scenario: </a:t>
            </a:r>
            <a:r>
              <a:rPr sz="1600">
                <a:solidFill>
                  <a:srgbClr val="FFFFFF"/>
                </a:solidFill>
                <a:latin typeface="Calibri"/>
              </a:rPr>
              <a:t>A customer-support team ships a dense-only RAG over their product docs. Three weeks in, users search </a:t>
            </a:r>
            <a:r>
              <a:rPr sz="1600" b="1">
                <a:solidFill>
                  <a:srgbClr val="2E8BC4"/>
                </a:solidFill>
                <a:latin typeface="Consolas"/>
              </a:rPr>
              <a:t>"ORA-04031 fix"</a:t>
            </a:r>
            <a:r>
              <a:rPr sz="1600">
                <a:solidFill>
                  <a:srgbClr val="FFFFFF"/>
                </a:solidFill>
                <a:latin typeface="Calibri"/>
              </a:rPr>
              <a:t> and get an article about Oracle licensing instead of the one that actually debugs the error. Ticket volume climbs; trust tanks.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went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F46E32"/>
                </a:solidFill>
                <a:latin typeface="Calibri"/>
              </a:rPr>
              <a:t>▸  Embeddings smooth over exact tokens.</a:t>
            </a:r>
            <a:r>
              <a:rPr sz="1600">
                <a:solidFill>
                  <a:srgbClr val="FFFFFF"/>
                </a:solidFill>
                <a:latin typeface="Calibri"/>
              </a:rPr>
              <a:t> "ORA-04031" is rare; the model finds docs with similar prose, not the exact code.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F46E32"/>
                </a:solidFill>
                <a:latin typeface="Calibri"/>
              </a:rPr>
              <a:t>▸  Recall ceiling hit.</a:t>
            </a:r>
            <a:r>
              <a:rPr sz="1600">
                <a:solidFill>
                  <a:srgbClr val="FFFFFF"/>
                </a:solidFill>
                <a:latin typeface="Calibri"/>
              </a:rPr>
              <a:t> The right doc wasn't in the top-50 at all — no amount of prompt tuning could save the generator.</a:t>
            </a:r>
          </a:p>
          <a:p>
            <a:pPr algn="l">
              <a:spcAft>
                <a:spcPts val="700"/>
              </a:spcAft>
            </a:pPr>
            <a:r>
              <a:rPr sz="1600" b="1">
                <a:solidFill>
                  <a:srgbClr val="F46E32"/>
                </a:solidFill>
                <a:latin typeface="Calibri"/>
              </a:rPr>
              <a:t>▸  The generator looked confident.</a:t>
            </a:r>
            <a:r>
              <a:rPr sz="1600">
                <a:solidFill>
                  <a:srgbClr val="FFFFFF"/>
                </a:solidFill>
                <a:latin typeface="Calibri"/>
              </a:rPr>
              <a:t> The LLM answered from the wrong doc rather than saying "I don't know".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fixed it (one afternoon of 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F46E32"/>
                </a:solidFill>
                <a:latin typeface="Calibri"/>
              </a:rPr>
              <a:t>▸  </a:t>
            </a:r>
            <a:r>
              <a:rPr sz="1500">
                <a:solidFill>
                  <a:srgbClr val="FFFFFF"/>
                </a:solidFill>
                <a:latin typeface="Calibri"/>
              </a:rPr>
              <a:t>Added </a:t>
            </a:r>
            <a:r>
              <a:rPr sz="1500" b="1">
                <a:solidFill>
                  <a:srgbClr val="F46E32"/>
                </a:solidFill>
                <a:latin typeface="Calibri"/>
              </a:rPr>
              <a:t>BM25</a:t>
            </a:r>
            <a:r>
              <a:rPr sz="1500">
                <a:solidFill>
                  <a:srgbClr val="FFFFFF"/>
                </a:solidFill>
                <a:latin typeface="Calibri"/>
              </a:rPr>
              <a:t> alongside dense; fused with </a:t>
            </a:r>
            <a:r>
              <a:rPr sz="1500" b="1">
                <a:solidFill>
                  <a:srgbClr val="F46E32"/>
                </a:solidFill>
                <a:latin typeface="Calibri"/>
              </a:rPr>
              <a:t>RRF</a:t>
            </a:r>
            <a:r>
              <a:rPr sz="1500">
                <a:solidFill>
                  <a:srgbClr val="FFFFFF"/>
                </a:solidFill>
                <a:latin typeface="Calibri"/>
              </a:rPr>
              <a:t> — exact-code match jumped to rank 1. Added a </a:t>
            </a:r>
            <a:r>
              <a:rPr sz="1500" b="1">
                <a:solidFill>
                  <a:srgbClr val="F46E32"/>
                </a:solidFill>
                <a:latin typeface="Calibri"/>
              </a:rPr>
              <a:t>cross-encoder reranker</a:t>
            </a:r>
            <a:r>
              <a:rPr sz="1500">
                <a:solidFill>
                  <a:srgbClr val="FFFFFF"/>
                </a:solidFill>
                <a:latin typeface="Calibri"/>
              </a:rPr>
              <a:t> to keep noisy matches out of the prompt. Ticket deflection went back above baseline.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Why RAG Systems Fail in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Bad chunking</a:t>
            </a:r>
            <a:r>
              <a:rPr sz="1800">
                <a:solidFill>
                  <a:srgbClr val="FFFFFF"/>
                </a:solidFill>
                <a:latin typeface="Calibri"/>
              </a:rPr>
              <a:t> — chunks too big lose precision, too small lose context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Embedding drift</a:t>
            </a:r>
            <a:r>
              <a:rPr sz="1800">
                <a:solidFill>
                  <a:srgbClr val="FFFFFF"/>
                </a:solidFill>
                <a:latin typeface="Calibri"/>
              </a:rPr>
              <a:t> — your domain vocabulary doesn't match the embedding model's training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Stale indexes</a:t>
            </a:r>
            <a:r>
              <a:rPr sz="1800">
                <a:solidFill>
                  <a:srgbClr val="FFFFFF"/>
                </a:solidFill>
                <a:latin typeface="Calibri"/>
              </a:rPr>
              <a:t> — documents change but the vector store doesn't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Single-retriever blind spots</a:t>
            </a:r>
            <a:r>
              <a:rPr sz="1800">
                <a:solidFill>
                  <a:srgbClr val="FFFFFF"/>
                </a:solidFill>
                <a:latin typeface="Calibri"/>
              </a:rPr>
              <a:t> — dense misses exact terms; sparse misses paraphrases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Retrieval shows the right doc but the wrong chunk</a:t>
            </a:r>
            <a:r>
              <a:rPr sz="1800">
                <a:solidFill>
                  <a:srgbClr val="FFFFFF"/>
                </a:solidFill>
                <a:latin typeface="Calibri"/>
              </a:rPr>
              <a:t> of it — segmentation matters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Token budget overflow</a:t>
            </a:r>
            <a:r>
              <a:rPr sz="1800">
                <a:solidFill>
                  <a:srgbClr val="FFFFFF"/>
                </a:solidFill>
                <a:latin typeface="Calibri"/>
              </a:rPr>
              <a:t> — too many context chunks crowd out the question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Hallucinations from sparse context</a:t>
            </a:r>
            <a:r>
              <a:rPr sz="1800">
                <a:solidFill>
                  <a:srgbClr val="FFFFFF"/>
                </a:solidFill>
                <a:latin typeface="Calibri"/>
              </a:rPr>
              <a:t> — the LLM fills gaps confidently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No observability</a:t>
            </a:r>
            <a:r>
              <a:rPr sz="1800">
                <a:solidFill>
                  <a:srgbClr val="FFFFFF"/>
                </a:solidFill>
                <a:latin typeface="Calibri"/>
              </a:rPr>
              <a:t> — you can't fix what you can't see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No evaluation harness</a:t>
            </a:r>
            <a:r>
              <a:rPr sz="1800">
                <a:solidFill>
                  <a:srgbClr val="FFFFFF"/>
                </a:solidFill>
                <a:latin typeface="Calibri"/>
              </a:rPr>
              <a:t> — every change is a gamble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RAG is easy to demo, hard to operate. Plan for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Productionizing Hybrid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Hybrid retrieval as the default</a:t>
            </a:r>
            <a:r>
              <a:rPr sz="1800">
                <a:solidFill>
                  <a:srgbClr val="FFFFFF"/>
                </a:solidFill>
                <a:latin typeface="Calibri"/>
              </a:rPr>
              <a:t> — dense + sparse, fused with RRF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Cross-encoder reranking</a:t>
            </a:r>
            <a:r>
              <a:rPr sz="1800">
                <a:solidFill>
                  <a:srgbClr val="FFFFFF"/>
                </a:solidFill>
                <a:latin typeface="Calibri"/>
              </a:rPr>
              <a:t> on a small candidate pool — best precision per millisecond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Chunking strategy</a:t>
            </a:r>
            <a:r>
              <a:rPr sz="1800">
                <a:solidFill>
                  <a:srgbClr val="FFFFFF"/>
                </a:solidFill>
                <a:latin typeface="Calibri"/>
              </a:rPr>
              <a:t> tuned per corpus — try 200–400 tokens with 50-token overlap as a starting point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Reindex on a schedule</a:t>
            </a:r>
            <a:r>
              <a:rPr sz="1800">
                <a:solidFill>
                  <a:srgbClr val="FFFFFF"/>
                </a:solidFill>
                <a:latin typeface="Calibri"/>
              </a:rPr>
              <a:t> — embedding-model upgrades and content updates are routine, not exceptional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Caching</a:t>
            </a:r>
            <a:r>
              <a:rPr sz="1800">
                <a:solidFill>
                  <a:srgbClr val="FFFFFF"/>
                </a:solidFill>
                <a:latin typeface="Calibri"/>
              </a:rPr>
              <a:t> — embed-once, cache reranker scores for common queries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Fallbacks</a:t>
            </a:r>
            <a:r>
              <a:rPr sz="1800">
                <a:solidFill>
                  <a:srgbClr val="FFFFFF"/>
                </a:solidFill>
                <a:latin typeface="Calibri"/>
              </a:rPr>
              <a:t> — when retrieval confidence is low, return "I don't know" instead of guessing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Cite everything</a:t>
            </a:r>
            <a:r>
              <a:rPr sz="1800">
                <a:solidFill>
                  <a:srgbClr val="FFFFFF"/>
                </a:solidFill>
                <a:latin typeface="Calibri"/>
              </a:rPr>
              <a:t> — every claim should map to a chunk the user can click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Evaluation harness in CI</a:t>
            </a:r>
            <a:r>
              <a:rPr sz="1800">
                <a:solidFill>
                  <a:srgbClr val="FFFFFF"/>
                </a:solidFill>
                <a:latin typeface="Calibri"/>
              </a:rPr>
              <a:t> — run MRR / CUS / ACS on every change before merging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Reliability is a feature, not a phase.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Observability for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Log every stage</a:t>
            </a:r>
            <a:r>
              <a:rPr sz="1800">
                <a:solidFill>
                  <a:srgbClr val="FFFFFF"/>
                </a:solidFill>
                <a:latin typeface="Calibri"/>
              </a:rPr>
              <a:t> — query, dense IDs, sparse IDs, fused order, rerank order, final context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Per-query latency breakdown</a:t>
            </a:r>
            <a:r>
              <a:rPr sz="1800">
                <a:solidFill>
                  <a:srgbClr val="FFFFFF"/>
                </a:solidFill>
                <a:latin typeface="Calibri"/>
              </a:rPr>
              <a:t> — retrieve, rerank, generate, total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Per-chunk attribution</a:t>
            </a:r>
            <a:r>
              <a:rPr sz="1800">
                <a:solidFill>
                  <a:srgbClr val="FFFFFF"/>
                </a:solidFill>
                <a:latin typeface="Calibri"/>
              </a:rPr>
              <a:t> — which chunks supported which sentences in the answer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User feedback loop</a:t>
            </a:r>
            <a:r>
              <a:rPr sz="1800">
                <a:solidFill>
                  <a:srgbClr val="FFFFFF"/>
                </a:solidFill>
                <a:latin typeface="Calibri"/>
              </a:rPr>
              <a:t> — thumbs up/down feeds back into eval set and retrieval tuning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Drift monitoring</a:t>
            </a:r>
            <a:r>
              <a:rPr sz="1800">
                <a:solidFill>
                  <a:srgbClr val="FFFFFF"/>
                </a:solidFill>
                <a:latin typeface="Calibri"/>
              </a:rPr>
              <a:t> — track CUS / ACS over time, alert when they sag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Replay debugging</a:t>
            </a:r>
            <a:r>
              <a:rPr sz="1800">
                <a:solidFill>
                  <a:srgbClr val="FFFFFF"/>
                </a:solidFill>
                <a:latin typeface="Calibri"/>
              </a:rPr>
              <a:t> — given a bad answer, replay the exact retrieval and prompt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Cost tracking</a:t>
            </a:r>
            <a:r>
              <a:rPr sz="1800">
                <a:solidFill>
                  <a:srgbClr val="FFFFFF"/>
                </a:solidFill>
                <a:latin typeface="Calibri"/>
              </a:rPr>
              <a:t> — tokens per query, reranker calls, embeddings per day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Eval-on-CI</a:t>
            </a:r>
            <a:r>
              <a:rPr sz="1800">
                <a:solidFill>
                  <a:srgbClr val="FFFFFF"/>
                </a:solidFill>
                <a:latin typeface="Calibri"/>
              </a:rPr>
              <a:t> — block regressions before they 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500" b="1">
                <a:solidFill>
                  <a:srgbClr val="F46E32"/>
                </a:solidFill>
                <a:latin typeface="Calibri"/>
              </a:rPr>
              <a:t>If you can't trace it, you can't trust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Live Demo — Streamlit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What you will 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Toggle the cross-encoder reranker</a:t>
            </a:r>
            <a:r>
              <a:rPr sz="1800">
                <a:solidFill>
                  <a:srgbClr val="FFFFFF"/>
                </a:solidFill>
                <a:latin typeface="Calibri"/>
              </a:rPr>
              <a:t> on and off — same query, see the difference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</a:t>
            </a:r>
            <a:r>
              <a:rPr sz="1800">
                <a:solidFill>
                  <a:srgbClr val="FFFFFF"/>
                </a:solidFill>
                <a:latin typeface="Calibri"/>
              </a:rPr>
              <a:t>Tune </a:t>
            </a:r>
            <a:r>
              <a:rPr sz="1800" b="1">
                <a:solidFill>
                  <a:srgbClr val="F46E32"/>
                </a:solidFill>
                <a:latin typeface="Calibri"/>
              </a:rPr>
              <a:t>retrieval top-K, rerank pool size, context chunks, max tokens</a:t>
            </a:r>
            <a:r>
              <a:rPr sz="1800">
                <a:solidFill>
                  <a:srgbClr val="FFFFFF"/>
                </a:solidFill>
                <a:latin typeface="Calibri"/>
              </a:rPr>
              <a:t> live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Per-source explainability:</a:t>
            </a:r>
            <a:r>
              <a:rPr sz="1800">
                <a:solidFill>
                  <a:srgbClr val="FFFFFF"/>
                </a:solidFill>
                <a:latin typeface="Calibri"/>
              </a:rPr>
              <a:t> Dense Rank, BM25 Rank, RRF Score, Rerank Score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Latency breakdown:</a:t>
            </a:r>
            <a:r>
              <a:rPr sz="1800">
                <a:solidFill>
                  <a:srgbClr val="FFFFFF"/>
                </a:solidFill>
                <a:latin typeface="Calibri"/>
              </a:rPr>
              <a:t> retrieval vs generation vs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46E32"/>
                </a:solidFill>
                <a:latin typeface="Calibri"/>
              </a:rPr>
              <a:t>Demo queries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"When was the Eiffel Tower built?"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"What is the height of Burj Khalifa?"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"Which country is Machu Picchu located in?"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"Where is the Burj Khalifa and when was it built?"</a:t>
            </a:r>
            <a:r>
              <a:rPr sz="1800">
                <a:solidFill>
                  <a:srgbClr val="FFFFFF"/>
                </a:solidFill>
                <a:latin typeface="Calibri"/>
              </a:rPr>
              <a:t>  (compound query)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Calibri"/>
              </a:rPr>
              <a:t>Live Demo — Example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02_quer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802" y="717804"/>
            <a:ext cx="4760595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12648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AAAAAA"/>
                </a:solidFill>
              </a:rPr>
              <a:t>Query: "When was the Eiffel Tower built?"  →  Answer: 1887 to 1889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RAG grounds LLMs and kills hallucinations</a:t>
            </a:r>
            <a:r>
              <a:rPr sz="1800">
                <a:solidFill>
                  <a:srgbClr val="FFFFFF"/>
                </a:solidFill>
                <a:latin typeface="Calibri"/>
              </a:rPr>
              <a:t> — but only if retrieval is good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Hybrid retrieval (Dense + BM25 + RRF)</a:t>
            </a:r>
            <a:r>
              <a:rPr sz="1800">
                <a:solidFill>
                  <a:srgbClr val="FFFFFF"/>
                </a:solidFill>
                <a:latin typeface="Calibri"/>
              </a:rPr>
              <a:t> is robust because dense and sparse fail differently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Reciprocal Rank Fusion</a:t>
            </a:r>
            <a:r>
              <a:rPr sz="1800">
                <a:solidFill>
                  <a:srgbClr val="FFFFFF"/>
                </a:solidFill>
                <a:latin typeface="Calibri"/>
              </a:rPr>
              <a:t> needs no score calibration and is trivially extensible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A cross-encoder re-ranker is the cheapest big quality win</a:t>
            </a:r>
            <a:r>
              <a:rPr sz="1800">
                <a:solidFill>
                  <a:srgbClr val="FFFFFF"/>
                </a:solidFill>
                <a:latin typeface="Calibri"/>
              </a:rPr>
              <a:t> you can add to a working RAG system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Two-stage retrieval</a:t>
            </a:r>
            <a:r>
              <a:rPr sz="1800">
                <a:solidFill>
                  <a:srgbClr val="FFFFFF"/>
                </a:solidFill>
                <a:latin typeface="Calibri"/>
              </a:rPr>
              <a:t> = fast recall (bi-encoder) + sharp precision (cross-encoder)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Custom metrics (CUS, ACS)</a:t>
            </a:r>
            <a:r>
              <a:rPr sz="1800">
                <a:solidFill>
                  <a:srgbClr val="FFFFFF"/>
                </a:solidFill>
                <a:latin typeface="Calibri"/>
              </a:rPr>
              <a:t> reveal answer-quality issues that MRR alone hides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All of this runs on CPU with open models</a:t>
            </a:r>
            <a:r>
              <a:rPr sz="1800">
                <a:solidFill>
                  <a:srgbClr val="FFFFFF"/>
                </a:solidFill>
                <a:latin typeface="Calibri"/>
              </a:rPr>
              <a:t> — no API keys, no vendor lock-in</a:t>
            </a:r>
          </a:p>
          <a:p>
            <a:pPr algn="l">
              <a:spcAft>
                <a:spcPts val="700"/>
              </a:spcAft>
            </a:pPr>
            <a:r>
              <a:rPr sz="1800" b="1">
                <a:solidFill>
                  <a:srgbClr val="F46E32"/>
                </a:solidFill>
                <a:latin typeface="Calibri"/>
              </a:rPr>
              <a:t>▸  Plan for production from day one</a:t>
            </a:r>
            <a:r>
              <a:rPr sz="1800">
                <a:solidFill>
                  <a:srgbClr val="FFFFFF"/>
                </a:solidFill>
                <a:latin typeface="Calibri"/>
              </a:rPr>
              <a:t> — observability, evaluation harness, fallbacks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1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14300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Closing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188720" cy="64008"/>
          </a:xfrm>
          <a:prstGeom prst="rect">
            <a:avLst/>
          </a:prstGeom>
          <a:solidFill>
            <a:srgbClr val="F46E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1247120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The Core Shift: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RAG is no longer optional. Conversational AI without grounding is a hallucination machine in production.</a:t>
            </a:r>
          </a:p>
          <a:p>
            <a:pPr algn="l">
              <a:spcAft>
                <a:spcPts val="700"/>
              </a:spcAft>
            </a:pPr>
            <a:endParaRPr sz="1800" b="1" dirty="0">
              <a:solidFill>
                <a:srgbClr val="F46E32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Retrieval is the bottleneck: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the model is rarely the problem. The retriever almost always is. Fix retrieval first and everything downstream gets cheaper.</a:t>
            </a:r>
          </a:p>
          <a:p>
            <a:pPr algn="l">
              <a:spcAft>
                <a:spcPts val="700"/>
              </a:spcAft>
            </a:pPr>
            <a:endParaRPr sz="1800" b="1" dirty="0">
              <a:solidFill>
                <a:srgbClr val="F46E32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Hybrid + Re-Rank as the new default: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combine dense and sparse for recall, fuse with RRF, then let a cross-encoder pick the winners. Simple, robust, fast.</a:t>
            </a:r>
          </a:p>
          <a:p>
            <a:pPr algn="l">
              <a:spcAft>
                <a:spcPts val="700"/>
              </a:spcAft>
            </a:pPr>
            <a:endParaRPr sz="1800" b="1" dirty="0">
              <a:solidFill>
                <a:srgbClr val="F46E32"/>
              </a:solidFill>
              <a:latin typeface="Calibri"/>
            </a:endParaRPr>
          </a:p>
          <a:p>
            <a:pPr algn="l">
              <a:spcAft>
                <a:spcPts val="700"/>
              </a:spcAft>
            </a:pPr>
            <a:r>
              <a:rPr sz="1800" b="1" dirty="0">
                <a:solidFill>
                  <a:srgbClr val="F46E32"/>
                </a:solidFill>
                <a:latin typeface="Calibri"/>
              </a:rPr>
              <a:t>▸  The Final Takeaway:</a:t>
            </a:r>
            <a:r>
              <a:rPr sz="1800" dirty="0">
                <a:solidFill>
                  <a:srgbClr val="FFFFFF"/>
                </a:solidFill>
                <a:latin typeface="Calibri"/>
              </a:rPr>
              <a:t> the next generation of conversational AI will be built on </a:t>
            </a:r>
            <a:r>
              <a:rPr sz="1800" b="1" dirty="0">
                <a:solidFill>
                  <a:srgbClr val="F46E32"/>
                </a:solidFill>
                <a:latin typeface="Calibri"/>
              </a:rPr>
              <a:t>reliable retrieval</a:t>
            </a:r>
            <a:r>
              <a:rPr sz="1800" dirty="0">
                <a:solidFill>
                  <a:srgbClr val="FFFFFF"/>
                </a:solidFill>
                <a:latin typeface="Calibri"/>
              </a:rPr>
              <a:t>, not bigger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887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DataHour  •  Hybrid RAG with Re-Ranker  •  Ravindra Babu Katiki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AAAAAA"/>
                </a:solidFill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4097</Words>
  <Application>Microsoft Office PowerPoint</Application>
  <PresentationFormat>Widescreen</PresentationFormat>
  <Paragraphs>457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RAVINDRA BABU KATIKI .</cp:lastModifiedBy>
  <cp:revision>23</cp:revision>
  <dcterms:created xsi:type="dcterms:W3CDTF">2013-01-27T09:14:16Z</dcterms:created>
  <dcterms:modified xsi:type="dcterms:W3CDTF">2026-04-23T12:35:42Z</dcterms:modified>
  <cp:category/>
</cp:coreProperties>
</file>