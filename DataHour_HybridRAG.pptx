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alyticsVid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5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9494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Hybrid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69494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>
                <a:solidFill>
                  <a:srgbClr val="F46E32"/>
                </a:solidFill>
                <a:latin typeface="Calibri"/>
              </a:rPr>
              <a:t>with Re-Ranking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69494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  <a:latin typeface="Calibri"/>
              </a:rPr>
              <a:t>Building Smarter Retrieval for Conversational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949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DataHour  •  Analytics Vidhya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6949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F46E32"/>
                </a:solidFill>
                <a:latin typeface="Calibri"/>
              </a:rPr>
              <a:t>Presentation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69494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Katiki Ravindra Babu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6949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Strategic Technology Advisor, Vriksha.ai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6949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CTO  |  27+ Years Building Scalable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69494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"/>
              </a:rPr>
              <a:t>M. Tech in AI/ML, BITS Pilani</a:t>
            </a:r>
          </a:p>
        </p:txBody>
      </p:sp>
      <p:pic>
        <p:nvPicPr>
          <p:cNvPr id="13" name="Picture 12" descr="vriksh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1206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About 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800">
                <a:solidFill>
                  <a:srgbClr val="F46E32"/>
                </a:solidFill>
                <a:latin typeface="Calibri"/>
              </a:rPr>
              <a:t>Strategic Technology Advisor</a:t>
            </a:r>
            <a:r>
              <a:rPr sz="1800">
                <a:solidFill>
                  <a:srgbClr val="FFFFFF"/>
                </a:solidFill>
                <a:latin typeface="Calibri"/>
              </a:rPr>
              <a:t> at Vriksha.ai — focus on platform reliability and applied AI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800">
                <a:solidFill>
                  <a:srgbClr val="F46E32"/>
                </a:solidFill>
                <a:latin typeface="Calibri"/>
              </a:rPr>
              <a:t>27+ years</a:t>
            </a:r>
            <a:r>
              <a:rPr sz="1800">
                <a:solidFill>
                  <a:srgbClr val="FFFFFF"/>
                </a:solidFill>
                <a:latin typeface="Calibri"/>
              </a:rPr>
              <a:t> in gaming and large-scale platform engineering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Operated systems handling </a:t>
            </a:r>
            <a:r>
              <a:rPr b="1" sz="1800">
                <a:solidFill>
                  <a:srgbClr val="F46E32"/>
                </a:solidFill>
                <a:latin typeface="Calibri"/>
              </a:rPr>
              <a:t>4B+ daily service calls</a:t>
            </a:r>
            <a:r>
              <a:rPr sz="1800">
                <a:solidFill>
                  <a:srgbClr val="FFFFFF"/>
                </a:solidFill>
                <a:latin typeface="Calibri"/>
              </a:rPr>
              <a:t> at </a:t>
            </a:r>
            <a:r>
              <a:rPr b="1" sz="1800">
                <a:solidFill>
                  <a:srgbClr val="F46E32"/>
                </a:solidFill>
                <a:latin typeface="Calibri"/>
              </a:rPr>
              <a:t>125K+ concurrent users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Managed product portfolios exceeding </a:t>
            </a:r>
            <a:r>
              <a:rPr b="1" sz="1800">
                <a:solidFill>
                  <a:srgbClr val="F46E32"/>
                </a:solidFill>
                <a:latin typeface="Calibri"/>
              </a:rPr>
              <a:t>$1B in revenue impact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800">
                <a:solidFill>
                  <a:srgbClr val="F46E32"/>
                </a:solidFill>
                <a:latin typeface="Calibri"/>
              </a:rPr>
              <a:t>Top 10 Tech Leader in India (2025)</a:t>
            </a:r>
            <a:r>
              <a:rPr sz="1800">
                <a:solidFill>
                  <a:srgbClr val="FFFFFF"/>
                </a:solidFill>
                <a:latin typeface="Calibri"/>
              </a:rPr>
              <a:t> by TradeFlock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Areas of work: </a:t>
            </a:r>
            <a:r>
              <a:rPr b="1" sz="1800">
                <a:solidFill>
                  <a:srgbClr val="F46E32"/>
                </a:solidFill>
                <a:latin typeface="Calibri"/>
              </a:rPr>
              <a:t>Hybrid RAG, Conversational AI, Multi-Agent systems, Observability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F46E32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Today's session: walking through Hybrid RAG end-to-end — </a:t>
            </a:r>
            <a:r>
              <a:rPr b="1" sz="1800">
                <a:solidFill>
                  <a:srgbClr val="F46E32"/>
                </a:solidFill>
                <a:latin typeface="Calibri"/>
              </a:rPr>
              <a:t>theory, code, and a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We Will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Conversational AI</a:t>
            </a:r>
            <a:r>
              <a:rPr sz="1700">
                <a:solidFill>
                  <a:srgbClr val="FFFFFF"/>
                </a:solidFill>
                <a:latin typeface="Calibri"/>
              </a:rPr>
              <a:t> — what it is and the problem it tries to solve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Request–Response Pipeline</a:t>
            </a:r>
            <a:r>
              <a:rPr sz="1700">
                <a:solidFill>
                  <a:srgbClr val="FFFFFF"/>
                </a:solidFill>
                <a:latin typeface="Calibri"/>
              </a:rPr>
              <a:t> — how a query becomes a grounded answer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RAG Architecture</a:t>
            </a:r>
            <a:r>
              <a:rPr sz="1700">
                <a:solidFill>
                  <a:srgbClr val="FFFFFF"/>
                </a:solidFill>
                <a:latin typeface="Calibri"/>
              </a:rPr>
              <a:t> — grounding LLMs in real documents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Hybrid RAG</a:t>
            </a:r>
            <a:r>
              <a:rPr sz="1700">
                <a:solidFill>
                  <a:srgbClr val="FFFFFF"/>
                </a:solidFill>
                <a:latin typeface="Calibri"/>
              </a:rPr>
              <a:t> — Dense retrieval + BM25 fused with Reciprocal Rank Fusion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The Re-Ranker stage</a:t>
            </a:r>
            <a:r>
              <a:rPr sz="1700">
                <a:solidFill>
                  <a:srgbClr val="FFFFFF"/>
                </a:solidFill>
                <a:latin typeface="Calibri"/>
              </a:rPr>
              <a:t> — why a cross-encoder is the cheapest big quality win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Code walkthrough</a:t>
            </a:r>
            <a:r>
              <a:rPr sz="1700">
                <a:solidFill>
                  <a:srgbClr val="FFFFFF"/>
                </a:solidFill>
                <a:latin typeface="Calibri"/>
              </a:rPr>
              <a:t> — pipeline, retrievers, RRF, reranker, prompts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Evaluation</a:t>
            </a:r>
            <a:r>
              <a:rPr sz="1700">
                <a:solidFill>
                  <a:srgbClr val="FFFFFF"/>
                </a:solidFill>
                <a:latin typeface="Calibri"/>
              </a:rPr>
              <a:t> — MRR, HitRate, plus our custom CUS and ACS metrics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Production realities</a:t>
            </a:r>
            <a:r>
              <a:rPr sz="1700">
                <a:solidFill>
                  <a:srgbClr val="FFFFFF"/>
                </a:solidFill>
                <a:latin typeface="Calibri"/>
              </a:rPr>
              <a:t> — failure modes, observability, what to watch for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Live Demo</a:t>
            </a:r>
            <a:r>
              <a:rPr sz="1700">
                <a:solidFill>
                  <a:srgbClr val="FFFFFF"/>
                </a:solidFill>
                <a:latin typeface="Calibri"/>
              </a:rPr>
              <a:t> — Streamlit UI with reranker toggle and source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is a Conversational AI System?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A system that holds a </a:t>
            </a:r>
            <a:r>
              <a:rPr b="1" sz="1700">
                <a:solidFill>
                  <a:srgbClr val="F46E32"/>
                </a:solidFill>
                <a:latin typeface="Calibri"/>
              </a:rPr>
              <a:t>natural-language conversation</a:t>
            </a:r>
            <a:r>
              <a:rPr sz="1700">
                <a:solidFill>
                  <a:srgbClr val="FFFFFF"/>
                </a:solidFill>
                <a:latin typeface="Calibri"/>
              </a:rPr>
              <a:t> with a user and helps them complete tasks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Classical pipeline: </a:t>
            </a:r>
            <a:r>
              <a:rPr b="1" sz="1700">
                <a:solidFill>
                  <a:srgbClr val="F46E32"/>
                </a:solidFill>
                <a:latin typeface="Calibri"/>
              </a:rPr>
              <a:t>NLU → Dialogue State → Knowledge Lookup → NLG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Modern systems collapse most of this into a </a:t>
            </a:r>
            <a:r>
              <a:rPr b="1" sz="1700">
                <a:solidFill>
                  <a:srgbClr val="F46E32"/>
                </a:solidFill>
                <a:latin typeface="Calibri"/>
              </a:rPr>
              <a:t>Large Language Model</a:t>
            </a:r>
            <a:r>
              <a:rPr sz="1700">
                <a:solidFill>
                  <a:srgbClr val="FFFFFF"/>
                </a:solidFill>
                <a:latin typeface="Calibri"/>
              </a:rPr>
              <a:t> with tools and retrieval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Inputs are messy: </a:t>
            </a:r>
            <a:r>
              <a:rPr b="1" sz="1700">
                <a:solidFill>
                  <a:srgbClr val="F46E32"/>
                </a:solidFill>
                <a:latin typeface="Calibri"/>
              </a:rPr>
              <a:t>paraphrases, typos, follow-ups, ambiguity, multi-part questions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Output expectation has shifted from </a:t>
            </a:r>
            <a:r>
              <a:rPr b="1" sz="1700">
                <a:solidFill>
                  <a:srgbClr val="F46E32"/>
                </a:solidFill>
                <a:latin typeface="Calibri"/>
              </a:rPr>
              <a:t>'plausible reply' to 'verified, grounded answer'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The bar is now: be </a:t>
            </a:r>
            <a:r>
              <a:rPr b="1" sz="1700">
                <a:solidFill>
                  <a:srgbClr val="F46E32"/>
                </a:solidFill>
                <a:latin typeface="Calibri"/>
              </a:rPr>
              <a:t>correct, cite sources, stay current, and admit when you don't know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Conversational AI is no longer a chat window — it is the </a:t>
            </a:r>
            <a:r>
              <a:rPr b="1" sz="1700">
                <a:solidFill>
                  <a:srgbClr val="F46E32"/>
                </a:solidFill>
                <a:latin typeface="Calibri"/>
              </a:rPr>
              <a:t>front door to enterprise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Conversation is the interface. Retrieval is the substance.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an LLM Alone is Not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Knowledge cutoff</a:t>
            </a:r>
            <a:r>
              <a:rPr sz="1700">
                <a:solidFill>
                  <a:srgbClr val="FFFFFF"/>
                </a:solidFill>
                <a:latin typeface="Calibri"/>
              </a:rPr>
              <a:t> — the model has no idea what happened after training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No access to private data</a:t>
            </a:r>
            <a:r>
              <a:rPr sz="1700">
                <a:solidFill>
                  <a:srgbClr val="FFFFFF"/>
                </a:solidFill>
                <a:latin typeface="Calibri"/>
              </a:rPr>
              <a:t> — your wikis, tickets, product docs, customer history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Hallucinations</a:t>
            </a:r>
            <a:r>
              <a:rPr sz="1700">
                <a:solidFill>
                  <a:srgbClr val="FFFFFF"/>
                </a:solidFill>
                <a:latin typeface="Calibri"/>
              </a:rPr>
              <a:t> — the model fabricates confident, plausible, and wrong answers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No source attribution</a:t>
            </a:r>
            <a:r>
              <a:rPr sz="1700">
                <a:solidFill>
                  <a:srgbClr val="FFFFFF"/>
                </a:solidFill>
                <a:latin typeface="Calibri"/>
              </a:rPr>
              <a:t> — the user cannot verify or audit the answer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Stale facts decay silently</a:t>
            </a:r>
            <a:r>
              <a:rPr sz="1700">
                <a:solidFill>
                  <a:srgbClr val="FFFFFF"/>
                </a:solidFill>
                <a:latin typeface="Calibri"/>
              </a:rPr>
              <a:t> — yesterday's correct answer becomes today's incident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Re-training is expensive</a:t>
            </a:r>
            <a:r>
              <a:rPr sz="1700">
                <a:solidFill>
                  <a:srgbClr val="FFFFFF"/>
                </a:solidFill>
                <a:latin typeface="Calibri"/>
              </a:rPr>
              <a:t> — you cannot fine-tune your way out of every fact change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Compliance risk</a:t>
            </a:r>
            <a:r>
              <a:rPr sz="1700">
                <a:solidFill>
                  <a:srgbClr val="FFFFFF"/>
                </a:solidFill>
                <a:latin typeface="Calibri"/>
              </a:rPr>
              <a:t> — regulated domains demand traceable, citable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Don't ask the LLM to remember. Let it look things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Request–Response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011680" cy="77724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User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33472" y="1554480"/>
            <a:ext cx="2011680" cy="77724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Retriever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9744" y="1554480"/>
            <a:ext cx="2011680" cy="77724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86016" y="1554480"/>
            <a:ext cx="2011680" cy="77724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62288" y="1554480"/>
            <a:ext cx="2011680" cy="77724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1943100.0"/>
            <a:ext cx="164592" cy="0.0"/>
          </a:xfrm>
          <a:prstGeom prst="line">
            <a:avLst/>
          </a:prstGeom>
          <a:ln w="28575">
            <a:solidFill>
              <a:srgbClr val="F46E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45152" y="1943100.0"/>
            <a:ext cx="164592" cy="0.0"/>
          </a:xfrm>
          <a:prstGeom prst="line">
            <a:avLst/>
          </a:prstGeom>
          <a:ln w="28575">
            <a:solidFill>
              <a:srgbClr val="F46E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21424" y="1943100.0"/>
            <a:ext cx="164592" cy="0.0"/>
          </a:xfrm>
          <a:prstGeom prst="line">
            <a:avLst/>
          </a:prstGeom>
          <a:ln w="28575">
            <a:solidFill>
              <a:srgbClr val="F46E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97696" y="1943100.0"/>
            <a:ext cx="164592" cy="0.0"/>
          </a:xfrm>
          <a:prstGeom prst="line">
            <a:avLst/>
          </a:prstGeom>
          <a:ln w="28575">
            <a:solidFill>
              <a:srgbClr val="F46E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AAAAAA"/>
                </a:solidFill>
                <a:latin typeface="Calibri"/>
              </a:rPr>
              <a:t>Each stage adds latency and is **independently optimizable**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Query understanding</a:t>
            </a:r>
            <a:r>
              <a:rPr sz="1600">
                <a:solidFill>
                  <a:srgbClr val="FFFFFF"/>
                </a:solidFill>
                <a:latin typeface="Calibri"/>
              </a:rPr>
              <a:t> — the same question asked five different ways must reach the same docs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Retrieval</a:t>
            </a:r>
            <a:r>
              <a:rPr sz="1600">
                <a:solidFill>
                  <a:srgbClr val="FFFFFF"/>
                </a:solidFill>
                <a:latin typeface="Calibri"/>
              </a:rPr>
              <a:t> — the recall ceiling for the entire system. If the doc isn't fetched, no LLM can save you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Ranking and filtering</a:t>
            </a:r>
            <a:r>
              <a:rPr sz="1600">
                <a:solidFill>
                  <a:srgbClr val="FFFFFF"/>
                </a:solidFill>
                <a:latin typeface="Calibri"/>
              </a:rPr>
              <a:t> — too much context distracts the model and inflates token cost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Generation</a:t>
            </a:r>
            <a:r>
              <a:rPr sz="1600">
                <a:solidFill>
                  <a:srgbClr val="FFFFFF"/>
                </a:solidFill>
                <a:latin typeface="Calibri"/>
              </a:rPr>
              <a:t> — small models are fast and shallow; large models are slow and thorough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Citation</a:t>
            </a:r>
            <a:r>
              <a:rPr sz="1600">
                <a:solidFill>
                  <a:srgbClr val="FFFFFF"/>
                </a:solidFill>
                <a:latin typeface="Calibri"/>
              </a:rPr>
              <a:t> — every claim should map back to a chunk the user can click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Optimize the bottleneck stage, not the slowest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RAG: Retrieval-Augmented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Idea: Treat the LLM like an open-book exam, not a memory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Step 1 — Index:</a:t>
            </a:r>
            <a:r>
              <a:rPr sz="1700">
                <a:solidFill>
                  <a:srgbClr val="FFFFFF"/>
                </a:solidFill>
                <a:latin typeface="Calibri"/>
              </a:rPr>
              <a:t> chunk your documents and embed them into a vector store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Step 2 — Retrieve:</a:t>
            </a:r>
            <a:r>
              <a:rPr sz="1700">
                <a:solidFill>
                  <a:srgbClr val="FFFFFF"/>
                </a:solidFill>
                <a:latin typeface="Calibri"/>
              </a:rPr>
              <a:t> at query time, fetch the top-K most relevant chunks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Step 3 — Augment:</a:t>
            </a:r>
            <a:r>
              <a:rPr sz="1700">
                <a:solidFill>
                  <a:srgbClr val="FFFFFF"/>
                </a:solidFill>
                <a:latin typeface="Calibri"/>
              </a:rPr>
              <a:t> pass the chunks alongside the question into the prompt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Step 4 — Generate:</a:t>
            </a:r>
            <a:r>
              <a:rPr sz="1700">
                <a:solidFill>
                  <a:srgbClr val="FFFFFF"/>
                </a:solidFill>
                <a:latin typeface="Calibri"/>
              </a:rPr>
              <a:t> the LLM produces an answer </a:t>
            </a:r>
            <a:r>
              <a:rPr b="1" sz="1700">
                <a:solidFill>
                  <a:srgbClr val="F46E32"/>
                </a:solidFill>
                <a:latin typeface="Calibri"/>
              </a:rPr>
              <a:t>grounded</a:t>
            </a:r>
            <a:r>
              <a:rPr sz="1700">
                <a:solidFill>
                  <a:srgbClr val="FFFFFF"/>
                </a:solidFill>
                <a:latin typeface="Calibri"/>
              </a:rPr>
              <a:t> in the retrieved text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Step 5 — Cite:</a:t>
            </a:r>
            <a:r>
              <a:rPr sz="1700">
                <a:solidFill>
                  <a:srgbClr val="FFFFFF"/>
                </a:solidFill>
                <a:latin typeface="Calibri"/>
              </a:rPr>
              <a:t> return the chunks that supported each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What this buys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Update knowledge by </a:t>
            </a:r>
            <a:r>
              <a:rPr b="1" sz="1500">
                <a:solidFill>
                  <a:srgbClr val="F46E32"/>
                </a:solidFill>
                <a:latin typeface="Calibri"/>
              </a:rPr>
              <a:t>re-indexing</a:t>
            </a:r>
            <a:r>
              <a:rPr sz="1500">
                <a:solidFill>
                  <a:srgbClr val="FFFFFF"/>
                </a:solidFill>
                <a:latin typeface="Calibri"/>
              </a:rPr>
              <a:t>, not retraining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Source citations</a:t>
            </a:r>
            <a:r>
              <a:rPr sz="1500">
                <a:solidFill>
                  <a:srgbClr val="FFFFFF"/>
                </a:solidFill>
                <a:latin typeface="Calibri"/>
              </a:rPr>
              <a:t> for every answer — auditability built 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Hallucination drops </a:t>
            </a:r>
            <a:r>
              <a:rPr b="1" sz="1500">
                <a:solidFill>
                  <a:srgbClr val="F46E32"/>
                </a:solidFill>
                <a:latin typeface="Calibri"/>
              </a:rPr>
              <a:t>dramatically</a:t>
            </a:r>
            <a:r>
              <a:rPr sz="1500">
                <a:solidFill>
                  <a:srgbClr val="FFFFFF"/>
                </a:solidFill>
                <a:latin typeface="Calibri"/>
              </a:rPr>
              <a:t> when the LLM has the right text in front of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Real Problem in RAG is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RAG is </a:t>
            </a:r>
            <a:r>
              <a:rPr b="1" sz="1700">
                <a:solidFill>
                  <a:srgbClr val="F46E32"/>
                </a:solidFill>
                <a:latin typeface="Calibri"/>
              </a:rPr>
              <a:t>only as good as the chunks you send to the LLM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Garbage in, garbage out</a:t>
            </a:r>
            <a:r>
              <a:rPr sz="1700">
                <a:solidFill>
                  <a:srgbClr val="FFFFFF"/>
                </a:solidFill>
                <a:latin typeface="Calibri"/>
              </a:rPr>
              <a:t> — irrelevant context = confident wrong answers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Two failure modes dominate retrieval: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    — </a:t>
            </a:r>
            <a:r>
              <a:rPr b="1" sz="1700">
                <a:solidFill>
                  <a:srgbClr val="F46E32"/>
                </a:solidFill>
                <a:latin typeface="Calibri"/>
              </a:rPr>
              <a:t>Recall failure:</a:t>
            </a:r>
            <a:r>
              <a:rPr sz="1700">
                <a:solidFill>
                  <a:srgbClr val="FFFFFF"/>
                </a:solidFill>
                <a:latin typeface="Calibri"/>
              </a:rPr>
              <a:t> the right chunk was never fetched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    — </a:t>
            </a:r>
            <a:r>
              <a:rPr b="1" sz="1700">
                <a:solidFill>
                  <a:srgbClr val="F46E32"/>
                </a:solidFill>
                <a:latin typeface="Calibri"/>
              </a:rPr>
              <a:t>Ranking failure:</a:t>
            </a:r>
            <a:r>
              <a:rPr sz="1700">
                <a:solidFill>
                  <a:srgbClr val="FFFFFF"/>
                </a:solidFill>
                <a:latin typeface="Calibri"/>
              </a:rPr>
              <a:t> the right chunk was fetched but buried below noise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Most teams blame the LLM when </a:t>
            </a:r>
            <a:r>
              <a:rPr b="1" sz="1700">
                <a:solidFill>
                  <a:srgbClr val="F46E32"/>
                </a:solidFill>
                <a:latin typeface="Calibri"/>
              </a:rPr>
              <a:t>the bug is upstream in the retriever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The retriever is the highest-leverage component to optimize</a:t>
            </a:r>
            <a:r>
              <a:rPr sz="1700">
                <a:solidFill>
                  <a:srgbClr val="FFFFFF"/>
                </a:solidFill>
                <a:latin typeface="Calibri"/>
              </a:rPr>
              <a:t> in any RAG system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Two complementary approaches: </a:t>
            </a:r>
            <a:r>
              <a:rPr b="1" sz="1700">
                <a:solidFill>
                  <a:srgbClr val="F46E32"/>
                </a:solidFill>
                <a:latin typeface="Calibri"/>
              </a:rPr>
              <a:t>dense (semantic)</a:t>
            </a:r>
            <a:r>
              <a:rPr sz="1700">
                <a:solidFill>
                  <a:srgbClr val="FFFFFF"/>
                </a:solidFill>
                <a:latin typeface="Calibri"/>
              </a:rPr>
              <a:t> and </a:t>
            </a:r>
            <a:r>
              <a:rPr b="1" sz="1700">
                <a:solidFill>
                  <a:srgbClr val="F46E32"/>
                </a:solidFill>
                <a:latin typeface="Calibri"/>
              </a:rPr>
              <a:t>sparse (lexical)</a:t>
            </a:r>
            <a:r>
              <a:rPr sz="1700">
                <a:solidFill>
                  <a:srgbClr val="FFFFFF"/>
                </a:solidFill>
                <a:latin typeface="Calibri"/>
              </a:rPr>
              <a:t>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Fix retrieval first. Everything downstream gets cheaper.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Dense (Semantic)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Encode query and documents into </a:t>
            </a:r>
            <a:r>
              <a:rPr b="1" sz="1600">
                <a:solidFill>
                  <a:srgbClr val="F46E32"/>
                </a:solidFill>
                <a:latin typeface="Calibri"/>
              </a:rPr>
              <a:t>dense vectors</a:t>
            </a:r>
            <a:r>
              <a:rPr sz="1600">
                <a:solidFill>
                  <a:srgbClr val="FFFFFF"/>
                </a:solidFill>
                <a:latin typeface="Calibri"/>
              </a:rPr>
              <a:t> in the same embedding space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Similarity = </a:t>
            </a:r>
            <a:r>
              <a:rPr b="1" sz="1600">
                <a:solidFill>
                  <a:srgbClr val="F46E32"/>
                </a:solidFill>
                <a:latin typeface="Calibri"/>
              </a:rPr>
              <a:t>cosine distance</a:t>
            </a:r>
            <a:r>
              <a:rPr sz="1600">
                <a:solidFill>
                  <a:srgbClr val="FFFFFF"/>
                </a:solidFill>
                <a:latin typeface="Calibri"/>
              </a:rPr>
              <a:t> between query vector and chunk vectors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Powered by </a:t>
            </a:r>
            <a:r>
              <a:rPr b="1" sz="1600">
                <a:solidFill>
                  <a:srgbClr val="F46E32"/>
                </a:solidFill>
                <a:latin typeface="Calibri"/>
              </a:rPr>
              <a:t>sentence-transformer</a:t>
            </a:r>
            <a:r>
              <a:rPr sz="1600">
                <a:solidFill>
                  <a:srgbClr val="FFFFFF"/>
                </a:solidFill>
                <a:latin typeface="Calibri"/>
              </a:rPr>
              <a:t> models like all-mpnet-base-v2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Strengths:</a:t>
            </a:r>
            <a:r>
              <a:rPr sz="1600">
                <a:solidFill>
                  <a:srgbClr val="FFFFFF"/>
                </a:solidFill>
                <a:latin typeface="Calibri"/>
              </a:rPr>
              <a:t> captures meaning, paraphrase, synonyms, and conceptual similarity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Handles queries like </a:t>
            </a:r>
            <a:r>
              <a:rPr b="1" sz="1600">
                <a:solidFill>
                  <a:srgbClr val="F46E32"/>
                </a:solidFill>
                <a:latin typeface="Calibri"/>
              </a:rPr>
              <a:t>"affordable smartphones for elderly"</a:t>
            </a:r>
            <a:r>
              <a:rPr sz="1600">
                <a:solidFill>
                  <a:srgbClr val="FFFFFF"/>
                </a:solidFill>
                <a:latin typeface="Calibri"/>
              </a:rPr>
              <a:t> matching docs about "senior-friendly budget phones"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Weaknesses:</a:t>
            </a:r>
            <a:r>
              <a:rPr sz="1600">
                <a:solidFill>
                  <a:srgbClr val="FFFFFF"/>
                </a:solidFill>
                <a:latin typeface="Calibri"/>
              </a:rPr>
              <a:t> misses rare exact terms, proper nouns, identifiers, codes, and acronyms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Indexed once, served fast via </a:t>
            </a:r>
            <a:r>
              <a:rPr b="1" sz="1600">
                <a:solidFill>
                  <a:srgbClr val="F46E32"/>
                </a:solidFill>
                <a:latin typeface="Calibri"/>
              </a:rPr>
              <a:t>FAISS</a:t>
            </a:r>
            <a:r>
              <a:rPr sz="1600">
                <a:solidFill>
                  <a:srgbClr val="FFFFFF"/>
                </a:solidFill>
                <a:latin typeface="Calibri"/>
              </a:rPr>
              <a:t> or similar approximate-nearest-neighbor library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Scales to millions of chunks with sub-100ms retrieval on a single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Dense retrieval understands meaning — but it forgets exact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Sparse (Lexical) Retrieval — BM25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BM25</a:t>
            </a:r>
            <a:r>
              <a:rPr sz="1600">
                <a:solidFill>
                  <a:srgbClr val="FFFFFF"/>
                </a:solidFill>
                <a:latin typeface="Calibri"/>
              </a:rPr>
              <a:t> is a ranking function based on term frequency and inverse document frequency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Measures </a:t>
            </a:r>
            <a:r>
              <a:rPr b="1" sz="1600">
                <a:solidFill>
                  <a:srgbClr val="F46E32"/>
                </a:solidFill>
                <a:latin typeface="Calibri"/>
              </a:rPr>
              <a:t>how rare and how concentrated</a:t>
            </a:r>
            <a:r>
              <a:rPr sz="1600">
                <a:solidFill>
                  <a:srgbClr val="FFFFFF"/>
                </a:solidFill>
                <a:latin typeface="Calibri"/>
              </a:rPr>
              <a:t> a query term is in a document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No training, no embeddings</a:t>
            </a:r>
            <a:r>
              <a:rPr sz="1600">
                <a:solidFill>
                  <a:srgbClr val="FFFFFF"/>
                </a:solidFill>
                <a:latin typeface="Calibri"/>
              </a:rPr>
              <a:t> — pure statistics over tokenized text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Strengths:</a:t>
            </a:r>
            <a:r>
              <a:rPr sz="1600">
                <a:solidFill>
                  <a:srgbClr val="FFFFFF"/>
                </a:solidFill>
                <a:latin typeface="Calibri"/>
              </a:rPr>
              <a:t> exact-keyword match, proper nouns, IDs, codes, error messages, version numbers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Handles queries like </a:t>
            </a:r>
            <a:r>
              <a:rPr b="1" sz="1600">
                <a:solidFill>
                  <a:srgbClr val="F46E32"/>
                </a:solidFill>
                <a:latin typeface="Calibri"/>
              </a:rPr>
              <a:t>"ORA-04031 fix"</a:t>
            </a:r>
            <a:r>
              <a:rPr sz="1600">
                <a:solidFill>
                  <a:srgbClr val="FFFFFF"/>
                </a:solidFill>
                <a:latin typeface="Calibri"/>
              </a:rPr>
              <a:t> or </a:t>
            </a:r>
            <a:r>
              <a:rPr b="1" sz="1600">
                <a:solidFill>
                  <a:srgbClr val="F46E32"/>
                </a:solidFill>
                <a:latin typeface="Calibri"/>
              </a:rPr>
              <a:t>"iPhone 15 Pro Max specs"</a:t>
            </a:r>
            <a:r>
              <a:rPr sz="1600">
                <a:solidFill>
                  <a:srgbClr val="FFFFFF"/>
                </a:solidFill>
                <a:latin typeface="Calibri"/>
              </a:rPr>
              <a:t> with surgical precision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Weaknesses:</a:t>
            </a:r>
            <a:r>
              <a:rPr sz="1600">
                <a:solidFill>
                  <a:srgbClr val="FFFFFF"/>
                </a:solidFill>
                <a:latin typeface="Calibri"/>
              </a:rPr>
              <a:t> misses synonyms ("car" vs "automobile") and reformulated queries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Battle-tested for decades — powers </a:t>
            </a:r>
            <a:r>
              <a:rPr b="1" sz="1600">
                <a:solidFill>
                  <a:srgbClr val="F46E32"/>
                </a:solidFill>
                <a:latin typeface="Calibri"/>
              </a:rPr>
              <a:t>Elasticsearch, Lucene, Solr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Almost free to compute, easy to debug, easy to explain to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BM25 remembers the words. mpnet remembers the meaning. We need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Hybrid RAG — Dense + Sparse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46E32"/>
                </a:solidFill>
                <a:latin typeface="Calibri"/>
              </a:rPr>
              <a:t>Dense and sparse fail in different ways. So combine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440680" cy="59436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Dense (Semantic)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440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all-mpnet-base-v2 embeddings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FAISS cosine similarity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Wins on paraphrase and concept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Loses on rare exact terms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11680"/>
            <a:ext cx="5440680" cy="59436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Sparse (Lexical)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97480"/>
            <a:ext cx="5440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BM25 Okapi over tokens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Term frequency × IDF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Wins on names, IDs, exact matches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Loses on synonyms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Pull </a:t>
            </a:r>
            <a:r>
              <a:rPr b="1" sz="1500">
                <a:solidFill>
                  <a:srgbClr val="F46E32"/>
                </a:solidFill>
                <a:latin typeface="Calibri"/>
              </a:rPr>
              <a:t>top-50 from each</a:t>
            </a:r>
            <a:r>
              <a:rPr sz="1500">
                <a:solidFill>
                  <a:srgbClr val="FFFFFF"/>
                </a:solidFill>
                <a:latin typeface="Calibri"/>
              </a:rPr>
              <a:t> retriever in parallel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Fuse the two ranked lists</a:t>
            </a:r>
            <a:r>
              <a:rPr sz="1500">
                <a:solidFill>
                  <a:srgbClr val="FFFFFF"/>
                </a:solidFill>
                <a:latin typeface="Calibri"/>
              </a:rPr>
              <a:t> with Reciprocal Rank Fusion (RRF)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The fused list is more robust than either retriever alone — </a:t>
            </a:r>
            <a:r>
              <a:rPr b="1" sz="1500">
                <a:solidFill>
                  <a:srgbClr val="F46E32"/>
                </a:solidFill>
                <a:latin typeface="Calibri"/>
              </a:rPr>
              <a:t>complementary failure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Hybrid retrieval is robust because dense and sparse fail differently.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Reciprocal Rank Fusion (RRF)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0">
                <a:solidFill>
                  <a:srgbClr val="AAAAAA"/>
                </a:solidFill>
                <a:latin typeface="Calibri"/>
              </a:rPr>
              <a:t>A rank-based fusion method — no score normalization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10332720" cy="1828800"/>
          </a:xfrm>
          <a:prstGeom prst="roundRect">
            <a:avLst/>
          </a:prstGeom>
          <a:solidFill>
            <a:srgbClr val="221B1F"/>
          </a:solidFill>
          <a:ln w="952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E0E0E0"/>
                </a:solidFill>
                <a:latin typeface="Consolas"/>
              </a:rPr>
              <a:t>score(d) = Σ  1 / (k + rank_i(d))</a:t>
            </a:r>
          </a:p>
          <a:p>
            <a:pPr algn="l"/>
            <a:r>
              <a:rPr sz="1800">
                <a:solidFill>
                  <a:srgbClr val="E0E0E0"/>
                </a:solidFill>
                <a:latin typeface="Consolas"/>
              </a:rPr>
              <a:t>             over each retriever i</a:t>
            </a:r>
          </a:p>
          <a:p>
            <a:pPr algn="l"/>
            <a:r>
              <a:rPr sz="180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0E0E0"/>
                </a:solidFill>
                <a:latin typeface="Consolas"/>
              </a:rPr>
              <a:t>k = 60   (a constant that dampens top-rank dominance)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Each document gets a </a:t>
            </a:r>
            <a:r>
              <a:rPr b="1" sz="1400">
                <a:solidFill>
                  <a:srgbClr val="F46E32"/>
                </a:solidFill>
                <a:latin typeface="Calibri"/>
              </a:rPr>
              <a:t>contribution from every retriever</a:t>
            </a:r>
            <a:r>
              <a:rPr sz="1400">
                <a:solidFill>
                  <a:srgbClr val="FFFFFF"/>
                </a:solidFill>
                <a:latin typeface="Calibri"/>
              </a:rPr>
              <a:t> it appears in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Rank, not score</a:t>
            </a:r>
            <a:r>
              <a:rPr sz="1400">
                <a:solidFill>
                  <a:srgbClr val="FFFFFF"/>
                </a:solidFill>
                <a:latin typeface="Calibri"/>
              </a:rPr>
              <a:t> — solves the calibration problem between heterogeneous retrievers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Robust:</a:t>
            </a:r>
            <a:r>
              <a:rPr sz="1400">
                <a:solidFill>
                  <a:srgbClr val="FFFFFF"/>
                </a:solidFill>
                <a:latin typeface="Calibri"/>
              </a:rPr>
              <a:t> works without normalizing cosine similarity vs BM25 raw scores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Tunable:</a:t>
            </a:r>
            <a:r>
              <a:rPr sz="1400">
                <a:solidFill>
                  <a:srgbClr val="FFFFFF"/>
                </a:solidFill>
                <a:latin typeface="Calibri"/>
              </a:rPr>
              <a:t> k controls how harshly we discount lower ranks (60 is the published default)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Documents that appear high in </a:t>
            </a:r>
            <a:r>
              <a:rPr b="1" sz="1400">
                <a:solidFill>
                  <a:srgbClr val="F46E32"/>
                </a:solidFill>
                <a:latin typeface="Calibri"/>
              </a:rPr>
              <a:t>both lists</a:t>
            </a:r>
            <a:r>
              <a:rPr sz="1400">
                <a:solidFill>
                  <a:srgbClr val="FFFFFF"/>
                </a:solidFill>
                <a:latin typeface="Calibri"/>
              </a:rPr>
              <a:t> rise to the top — that's the magic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If a doc appears at rank 1 in one list and rank 50 in the other, it still beats most singletons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RRF Works So Well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Heterogeneous score scales are not a problem</a:t>
            </a:r>
            <a:r>
              <a:rPr sz="1700">
                <a:solidFill>
                  <a:srgbClr val="FFFFFF"/>
                </a:solidFill>
                <a:latin typeface="Calibri"/>
              </a:rPr>
              <a:t> — we only use the rank position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Linear combinations need tuning per dataset</a:t>
            </a:r>
            <a:r>
              <a:rPr sz="1700">
                <a:solidFill>
                  <a:srgbClr val="FFFFFF"/>
                </a:solidFill>
                <a:latin typeface="Calibri"/>
              </a:rPr>
              <a:t> — RRF doesn't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Adding a </a:t>
            </a:r>
            <a:r>
              <a:rPr b="1" sz="1700">
                <a:solidFill>
                  <a:srgbClr val="F46E32"/>
                </a:solidFill>
                <a:latin typeface="Calibri"/>
              </a:rPr>
              <a:t>third retriever</a:t>
            </a:r>
            <a:r>
              <a:rPr sz="1700">
                <a:solidFill>
                  <a:srgbClr val="FFFFFF"/>
                </a:solidFill>
                <a:latin typeface="Calibri"/>
              </a:rPr>
              <a:t> (e.g., a graph index) is a one-line change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Empirically beats</a:t>
            </a:r>
            <a:r>
              <a:rPr sz="1700">
                <a:solidFill>
                  <a:srgbClr val="FFFFFF"/>
                </a:solidFill>
                <a:latin typeface="Calibri"/>
              </a:rPr>
              <a:t> most weighted-sum fusion strategies in published benchmarks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Cheap: a few dictionary lookups and additions per document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Easy to explain:</a:t>
            </a:r>
            <a:r>
              <a:rPr sz="1700">
                <a:solidFill>
                  <a:srgbClr val="FFFFFF"/>
                </a:solidFill>
                <a:latin typeface="Calibri"/>
              </a:rPr>
              <a:t> "the document showed up high in multiple lists"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Failure mode: a doc appearing in </a:t>
            </a:r>
            <a:r>
              <a:rPr b="1" sz="1700">
                <a:solidFill>
                  <a:srgbClr val="F46E32"/>
                </a:solidFill>
                <a:latin typeface="Calibri"/>
              </a:rPr>
              <a:t>only one</a:t>
            </a:r>
            <a:r>
              <a:rPr sz="1700">
                <a:solidFill>
                  <a:srgbClr val="FFFFFF"/>
                </a:solidFill>
                <a:latin typeface="Calibri"/>
              </a:rPr>
              <a:t> list with rank &gt; 50 is invisible — pull deeper if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When in doubt, fuse by rank.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Re-Ranker — A Smarter Second 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Hybrid RAG gives us a </a:t>
            </a:r>
            <a:r>
              <a:rPr b="1" sz="1700">
                <a:solidFill>
                  <a:srgbClr val="F46E32"/>
                </a:solidFill>
                <a:latin typeface="Calibri"/>
              </a:rPr>
              <a:t>good candidate pool</a:t>
            </a:r>
            <a:r>
              <a:rPr sz="1700">
                <a:solidFill>
                  <a:srgbClr val="FFFFFF"/>
                </a:solidFill>
                <a:latin typeface="Calibri"/>
              </a:rPr>
              <a:t> of ~25 chunks — but ranking is still imperfect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The top-3 of that pool may not be the best 3</a:t>
            </a:r>
            <a:r>
              <a:rPr sz="1700">
                <a:solidFill>
                  <a:srgbClr val="FFFFFF"/>
                </a:solidFill>
                <a:latin typeface="Calibri"/>
              </a:rPr>
              <a:t> for the actual question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A re-ranker takes the </a:t>
            </a:r>
            <a:r>
              <a:rPr b="1" sz="1700">
                <a:solidFill>
                  <a:srgbClr val="F46E32"/>
                </a:solidFill>
                <a:latin typeface="Calibri"/>
              </a:rPr>
              <a:t>fused candidate list</a:t>
            </a:r>
            <a:r>
              <a:rPr sz="1700">
                <a:solidFill>
                  <a:srgbClr val="FFFFFF"/>
                </a:solidFill>
                <a:latin typeface="Calibri"/>
              </a:rPr>
              <a:t> and rescores each (query, chunk) pair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It uses a </a:t>
            </a:r>
            <a:r>
              <a:rPr b="1" sz="1700">
                <a:solidFill>
                  <a:srgbClr val="F46E32"/>
                </a:solidFill>
                <a:latin typeface="Calibri"/>
              </a:rPr>
              <a:t>stronger but slower model</a:t>
            </a:r>
            <a:r>
              <a:rPr sz="1700">
                <a:solidFill>
                  <a:srgbClr val="FFFFFF"/>
                </a:solidFill>
                <a:latin typeface="Calibri"/>
              </a:rPr>
              <a:t> that we can afford to run on a small batch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700">
                <a:solidFill>
                  <a:srgbClr val="F46E32"/>
                </a:solidFill>
                <a:latin typeface="Calibri"/>
              </a:rPr>
              <a:t>Two-stage retrieval:</a:t>
            </a:r>
            <a:r>
              <a:rPr sz="1700">
                <a:solidFill>
                  <a:srgbClr val="FFFFFF"/>
                </a:solidFill>
                <a:latin typeface="Calibri"/>
              </a:rPr>
              <a:t> fast bi-encoder narrows the field → slow cross-encoder picks winners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This pattern is borrowed from </a:t>
            </a:r>
            <a:r>
              <a:rPr b="1" sz="1700">
                <a:solidFill>
                  <a:srgbClr val="F46E32"/>
                </a:solidFill>
                <a:latin typeface="Calibri"/>
              </a:rPr>
              <a:t>classical information retrieval and web search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F46E32"/>
                </a:solidFill>
                <a:latin typeface="Calibri"/>
              </a:rPr>
              <a:t>▸  </a:t>
            </a:r>
            <a:r>
              <a:rPr sz="1700">
                <a:solidFill>
                  <a:srgbClr val="FFFFFF"/>
                </a:solidFill>
                <a:latin typeface="Calibri"/>
              </a:rPr>
              <a:t>It is the </a:t>
            </a:r>
            <a:r>
              <a:rPr b="1" sz="1700">
                <a:solidFill>
                  <a:srgbClr val="F46E32"/>
                </a:solidFill>
                <a:latin typeface="Calibri"/>
              </a:rPr>
              <a:t>single highest-ROI improvement</a:t>
            </a:r>
            <a:r>
              <a:rPr sz="1700">
                <a:solidFill>
                  <a:srgbClr val="FFFFFF"/>
                </a:solidFill>
                <a:latin typeface="Calibri"/>
              </a:rPr>
              <a:t> you can add to a working RAG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The re-ranker rescues the right chunks that hybrid retrieval ranks 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Bi-Encoder vs Cross-Encoder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440680" cy="64008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Bi-Encoder (Stage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5440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Encodes query and document </a:t>
            </a:r>
            <a:r>
              <a:rPr b="1" sz="1400">
                <a:solidFill>
                  <a:srgbClr val="F46E32"/>
                </a:solidFill>
                <a:latin typeface="Calibri"/>
              </a:rPr>
              <a:t>separately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Compares with </a:t>
            </a:r>
            <a:r>
              <a:rPr b="1" sz="1400">
                <a:solidFill>
                  <a:srgbClr val="F46E32"/>
                </a:solidFill>
                <a:latin typeface="Calibri"/>
              </a:rPr>
              <a:t>cosine similarity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Document vectors are </a:t>
            </a:r>
            <a:r>
              <a:rPr b="1" sz="1400">
                <a:solidFill>
                  <a:srgbClr val="F46E32"/>
                </a:solidFill>
                <a:latin typeface="Calibri"/>
              </a:rPr>
              <a:t>pre-computed</a:t>
            </a:r>
            <a:r>
              <a:rPr sz="1400">
                <a:solidFill>
                  <a:srgbClr val="FFFFFF"/>
                </a:solidFill>
                <a:latin typeface="Calibri"/>
              </a:rPr>
              <a:t> at index time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Very fast</a:t>
            </a:r>
            <a:r>
              <a:rPr sz="1400">
                <a:solidFill>
                  <a:srgbClr val="FFFFFF"/>
                </a:solidFill>
                <a:latin typeface="Calibri"/>
              </a:rPr>
              <a:t> at query time — pure lookup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Less accurate on subtle relevance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Used for </a:t>
            </a:r>
            <a:r>
              <a:rPr b="1" sz="1400">
                <a:solidFill>
                  <a:srgbClr val="F46E32"/>
                </a:solidFill>
                <a:latin typeface="Calibri"/>
              </a:rPr>
              <a:t>fast first-stage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440680" cy="640080"/>
          </a:xfrm>
          <a:prstGeom prst="roundRect">
            <a:avLst/>
          </a:prstGeom>
          <a:solidFill>
            <a:srgbClr val="221B1F"/>
          </a:solidFill>
          <a:ln w="1587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Cross-Encoder (Stage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440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Encodes query and document </a:t>
            </a:r>
            <a:r>
              <a:rPr b="1" sz="1400">
                <a:solidFill>
                  <a:srgbClr val="F46E32"/>
                </a:solidFill>
                <a:latin typeface="Calibri"/>
              </a:rPr>
              <a:t>jointly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Full attention</a:t>
            </a:r>
            <a:r>
              <a:rPr sz="1400">
                <a:solidFill>
                  <a:srgbClr val="FFFFFF"/>
                </a:solidFill>
                <a:latin typeface="Calibri"/>
              </a:rPr>
              <a:t> between every query and passage token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Cannot pre-compute — slower per pair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Much higher precision</a:t>
            </a:r>
            <a:r>
              <a:rPr sz="1400">
                <a:solidFill>
                  <a:srgbClr val="FFFFFF"/>
                </a:solidFill>
                <a:latin typeface="Calibri"/>
              </a:rPr>
              <a:t> on fine-grained relevance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Trained on relevance datasets like </a:t>
            </a:r>
            <a:r>
              <a:rPr b="1" sz="1400">
                <a:solidFill>
                  <a:srgbClr val="F46E32"/>
                </a:solidFill>
                <a:latin typeface="Calibri"/>
              </a:rPr>
              <a:t>MS MARCO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Used for </a:t>
            </a:r>
            <a:r>
              <a:rPr b="1" sz="1400">
                <a:solidFill>
                  <a:srgbClr val="F46E32"/>
                </a:solidFill>
                <a:latin typeface="Calibri"/>
              </a:rPr>
              <a:t>second-stage rescoring</a:t>
            </a:r>
            <a:r>
              <a:rPr sz="1400">
                <a:solidFill>
                  <a:srgbClr val="FFFFFF"/>
                </a:solidFill>
                <a:latin typeface="Calibri"/>
              </a:rPr>
              <a:t> of small pools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Bi-encoders go wide. Cross-encoders go deep. Use both.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Our Hybrid RAG + Re-Ranker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417320"/>
            <a:ext cx="9418320" cy="5120640"/>
          </a:xfrm>
          <a:prstGeom prst="roundRect">
            <a:avLst/>
          </a:prstGeom>
          <a:solidFill>
            <a:srgbClr val="221B1F"/>
          </a:solidFill>
          <a:ln w="952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508760"/>
            <a:ext cx="9144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Query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├──▶ Dense Index   (mpnet + FAISS)   ──▶  Top 50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└──▶ BM25 Index    (Okapi)           ──▶  Top 50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          │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          ▼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Reciprocal Rank Fusion (k = 60)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          │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          ▼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Top 25 candidate pool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          │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          ▼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Cross-Encoder Re-Rank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(cross-encoder/ms-marco-MiniLM-L-6-v2)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          │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          ▼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Top 6 chunks  →  Flan-T5  →  Grounded Answer +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Code: HybridRAG.retrieve()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47120" cy="4937760"/>
          </a:xfrm>
          <a:prstGeom prst="roundRect">
            <a:avLst/>
          </a:prstGeom>
          <a:solidFill>
            <a:srgbClr val="221B1F"/>
          </a:solidFill>
          <a:ln w="952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def retrieve(self, query, top_k=50, context_size=6,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     use_reranker=False, rerank_pool=25):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dense_idx, dense_sc = self.dense_index.search(query, top_k)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bm25_idx,  bm25_sc  = self.bm25_index.search(query, top_k)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fused = reciprocal_rank_fusion(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dense_idx, bm25_idx, fusion_constant=self.rrf_constant)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first_n = max(rerank_pool, context_size) \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      if use_reranker else context_size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candidates = build_retrieved(top_n_by_score(fused, first_n))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if use_reranker: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candidates = self.reranker.rerank(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    query, candidates, top_n=context_size)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return candidates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Code: Cross-Encoder Reranker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47120" cy="4937760"/>
          </a:xfrm>
          <a:prstGeom prst="roundRect">
            <a:avLst/>
          </a:prstGeom>
          <a:solidFill>
            <a:srgbClr val="221B1F"/>
          </a:solidFill>
          <a:ln w="952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from sentence_transformers import CrossEncoder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class CrossEncoderReranker: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def __init__(self,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         model='cross-encoder/ms-marco-MiniLM-L-6-v2'):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self.model = CrossEncoder(model, device='cpu')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def rerank(self, query, candidates, top_n):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pairs  = [[query, c.chunk.text] for c in candidates]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scores = self.model.predict(pairs)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ranked = sorted(zip(candidates, scores),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                key=lambda x: x[1], reverse=True)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return [replace(c, rerank_score=float(s),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                rerank_rank=i + 1)</a:t>
            </a:r>
          </a:p>
          <a:p>
            <a:pPr algn="l"/>
            <a:r>
              <a:rPr sz="1200">
                <a:solidFill>
                  <a:srgbClr val="E0E0E0"/>
                </a:solidFill>
                <a:latin typeface="Consolas"/>
              </a:rPr>
              <a:t>                for i, (c, s) in enumerate(ranked[:top_n])]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Code: Reciprocal Rank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47120" cy="4206240"/>
          </a:xfrm>
          <a:prstGeom prst="roundRect">
            <a:avLst/>
          </a:prstGeom>
          <a:solidFill>
            <a:srgbClr val="221B1F"/>
          </a:solidFill>
          <a:ln w="9525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def reciprocal_rank_fusion(dense_indices, sparse_indices,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                    fusion_constant=60, limit=50):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fused = defaultdict(float)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for rank, doc_id in enumerate(dense_indices):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fused[int(doc_id)] += 1.0 / (fusion_constant + rank + 1)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for rank, doc_id in enumerate(sparse_indices):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    fused[int(doc_id)] += 1.0 / (fusion_constant + rank + 1)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E0E0E0"/>
                </a:solidFill>
                <a:latin typeface="Consolas"/>
              </a:rPr>
              <a:t>    return fused   # {doc_id: rrf_score}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No score normalization. Just rank arithmetic. Beautifully simple.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Dataset and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46E32"/>
                </a:solidFill>
                <a:latin typeface="Calibri"/>
              </a:rPr>
              <a:t>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500 Wikipedia URLs</a:t>
            </a:r>
            <a:r>
              <a:rPr sz="1500">
                <a:solidFill>
                  <a:srgbClr val="FFFFFF"/>
                </a:solidFill>
                <a:latin typeface="Calibri"/>
              </a:rPr>
              <a:t> — 200 fixed travel articles + 300 random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9,083 chunks</a:t>
            </a:r>
            <a:r>
              <a:rPr sz="1500">
                <a:solidFill>
                  <a:srgbClr val="FFFFFF"/>
                </a:solidFill>
                <a:latin typeface="Calibri"/>
              </a:rPr>
              <a:t> of 200–400 tokens each, with 50-token overlap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100 evaluation questions</a:t>
            </a:r>
            <a:r>
              <a:rPr sz="1500">
                <a:solidFill>
                  <a:srgbClr val="FFFFFF"/>
                </a:solidFill>
                <a:latin typeface="Calibri"/>
              </a:rPr>
              <a:t> across factual, descriptive, comparative, inferential, and multi-hop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46E32"/>
                </a:solidFill>
                <a:latin typeface="Calibri"/>
              </a:rPr>
              <a:t>Open-Source Stack — runs on CPU, no API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Dense:</a:t>
            </a:r>
            <a:r>
              <a:rPr sz="1500">
                <a:solidFill>
                  <a:srgbClr val="FFFFFF"/>
                </a:solidFill>
                <a:latin typeface="Calibri"/>
              </a:rPr>
              <a:t> sentence-transformers / all-mpnet-base-v2  +  FAISS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Sparse:</a:t>
            </a:r>
            <a:r>
              <a:rPr sz="1500">
                <a:solidFill>
                  <a:srgbClr val="FFFFFF"/>
                </a:solidFill>
                <a:latin typeface="Calibri"/>
              </a:rPr>
              <a:t> rank-bm25 (Okapi)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Reranker:</a:t>
            </a:r>
            <a:r>
              <a:rPr sz="1500">
                <a:solidFill>
                  <a:srgbClr val="FFFFFF"/>
                </a:solidFill>
                <a:latin typeface="Calibri"/>
              </a:rPr>
              <a:t> cross-encoder / ms-marco-MiniLM-L-6-v2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Generator:</a:t>
            </a:r>
            <a:r>
              <a:rPr sz="1500">
                <a:solidFill>
                  <a:srgbClr val="FFFFFF"/>
                </a:solidFill>
                <a:latin typeface="Calibri"/>
              </a:rPr>
              <a:t> google / flan-t5-base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UI:</a:t>
            </a:r>
            <a:r>
              <a:rPr sz="1500">
                <a:solidFill>
                  <a:srgbClr val="FFFFFF"/>
                </a:solidFill>
                <a:latin typeface="Calibri"/>
              </a:rPr>
              <a:t> Streamlit  •  end-to-end latency ~1.5–2s on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Evaluation — Standard + Custom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Standard retrieval and faithfulness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MRR (Mean Reciprocal Rank)</a:t>
            </a:r>
            <a:r>
              <a:rPr sz="1500">
                <a:solidFill>
                  <a:srgbClr val="FFFFFF"/>
                </a:solidFill>
                <a:latin typeface="Calibri"/>
              </a:rPr>
              <a:t> — where the correct source ranks in retrieval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HitRate@K</a:t>
            </a:r>
            <a:r>
              <a:rPr sz="1500">
                <a:solidFill>
                  <a:srgbClr val="FFFFFF"/>
                </a:solidFill>
                <a:latin typeface="Calibri"/>
              </a:rPr>
              <a:t> — was the correct doc in the top-K? Coarse but useful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CSFS (Claim-Level Faithfulness)</a:t>
            </a:r>
            <a:r>
              <a:rPr sz="1500">
                <a:solidFill>
                  <a:srgbClr val="FFFFFF"/>
                </a:solidFill>
                <a:latin typeface="Calibri"/>
              </a:rPr>
              <a:t> — does each claim trace back to context? Hallucination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Our custom metrics — answer-quality, not just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CUS — Context Utilization Score:</a:t>
            </a:r>
            <a:r>
              <a:rPr sz="1400">
                <a:solidFill>
                  <a:srgbClr val="FFFFFF"/>
                </a:solidFill>
                <a:latin typeface="Calibri"/>
              </a:rPr>
              <a:t> did the answer actually use the retrieved context?  0.4 × keyword_overlap + 0.6 × semantic_similarity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ACS — Answer Completeness Score:</a:t>
            </a:r>
            <a:r>
              <a:rPr sz="1400">
                <a:solidFill>
                  <a:srgbClr val="FFFFFF"/>
                </a:solidFill>
                <a:latin typeface="Calibri"/>
              </a:rPr>
              <a:t> does the answer address the question? Penalizes evasive non-answers, tolerates short factual replies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Why both:</a:t>
            </a:r>
            <a:r>
              <a:rPr sz="1400">
                <a:solidFill>
                  <a:srgbClr val="FFFFFF"/>
                </a:solidFill>
                <a:latin typeface="Calibri"/>
              </a:rPr>
              <a:t> MRR and HitRate measure retrieval. CSFS measures honesty. </a:t>
            </a:r>
            <a:r>
              <a:rPr b="1" sz="1400">
                <a:solidFill>
                  <a:srgbClr val="F46E32"/>
                </a:solidFill>
                <a:latin typeface="Calibri"/>
              </a:rPr>
              <a:t>CUS and ACS measure whether the LLM is using what we worked so hard to retrieve.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Results — 100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2743200" cy="45720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463040"/>
            <a:ext cx="1828800" cy="45720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463040"/>
            <a:ext cx="6858000" cy="45720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27432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MRR (URL-level)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920240"/>
            <a:ext cx="18288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0.7978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920240"/>
            <a:ext cx="68580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Good retrieval ranking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27432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HitRate@5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377440"/>
            <a:ext cx="18288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0.9300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2377440"/>
            <a:ext cx="68580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93% correct source in top-5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27432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HitRate@10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834640"/>
            <a:ext cx="18288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0.9300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834640"/>
            <a:ext cx="68580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Same as @5 — top-5 is enough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40"/>
            <a:ext cx="27432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CSFS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291840"/>
            <a:ext cx="18288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0.0122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3291840"/>
            <a:ext cx="68580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Low — short answers are hard to verify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49040"/>
            <a:ext cx="27432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749040"/>
            <a:ext cx="18288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0.7208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3749040"/>
            <a:ext cx="68580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Answers genuinely use the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06240"/>
            <a:ext cx="27432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ACS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4206240"/>
            <a:ext cx="18288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0.6368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4206240"/>
            <a:ext cx="6858000" cy="457200"/>
          </a:xfrm>
          <a:prstGeom prst="rect">
            <a:avLst/>
          </a:prstGeom>
          <a:solidFill>
            <a:srgbClr val="2A2125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Answers properly address the question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663440"/>
            <a:ext cx="27432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Avg Latency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663440"/>
            <a:ext cx="18288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1600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4663440"/>
            <a:ext cx="6858000" cy="45720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End-to-end (without reranker)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300">
                <a:solidFill>
                  <a:srgbClr val="F46E32"/>
                </a:solidFill>
                <a:latin typeface="Calibri"/>
              </a:rPr>
              <a:t>93% HitRate@5</a:t>
            </a:r>
            <a:r>
              <a:rPr sz="1300">
                <a:solidFill>
                  <a:srgbClr val="FFFFFF"/>
                </a:solidFill>
                <a:latin typeface="Calibri"/>
              </a:rPr>
              <a:t> means the right document is in the top-5 for almost every question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300">
                <a:solidFill>
                  <a:srgbClr val="F46E32"/>
                </a:solidFill>
                <a:latin typeface="Calibri"/>
              </a:rPr>
              <a:t>CUS 0.72</a:t>
            </a:r>
            <a:r>
              <a:rPr sz="1300">
                <a:solidFill>
                  <a:srgbClr val="FFFFFF"/>
                </a:solidFill>
                <a:latin typeface="Calibri"/>
              </a:rPr>
              <a:t> confirms the LLM is leaning on the retrieved chunks, not its own memory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300">
                <a:solidFill>
                  <a:srgbClr val="F46E32"/>
                </a:solidFill>
                <a:latin typeface="Calibri"/>
              </a:rPr>
              <a:t>CSFS is low because Flan-T5-base gives short answers</a:t>
            </a:r>
            <a:r>
              <a:rPr sz="1300">
                <a:solidFill>
                  <a:srgbClr val="FFFFFF"/>
                </a:solidFill>
                <a:latin typeface="Calibri"/>
              </a:rPr>
              <a:t> — fewer claims to verify, not less faithful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Ablation Study — Hybrid vs Single Retrievers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554480"/>
            <a:ext cx="5029200" cy="50292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554480"/>
            <a:ext cx="1828800" cy="50292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MRR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554480"/>
            <a:ext cx="1828800" cy="502920"/>
          </a:xfrm>
          <a:prstGeom prst="rect">
            <a:avLst/>
          </a:prstGeom>
          <a:solidFill>
            <a:srgbClr val="F46E32"/>
          </a:solidFill>
          <a:ln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HitRate@5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057400"/>
            <a:ext cx="50292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>
                <a:solidFill>
                  <a:srgbClr val="FFFFFF"/>
                </a:solidFill>
              </a:rPr>
              <a:t>Hybrid (Dense + BM25 + RRF)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05740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>
                <a:solidFill>
                  <a:srgbClr val="FFFFFF"/>
                </a:solidFill>
              </a:rPr>
              <a:t>0.80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05740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>
                <a:solidFill>
                  <a:srgbClr val="FFFFFF"/>
                </a:solidFill>
              </a:rPr>
              <a:t>0.93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560320"/>
            <a:ext cx="50292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>
                <a:solidFill>
                  <a:srgbClr val="FFFFFF"/>
                </a:solidFill>
              </a:rPr>
              <a:t>Dense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56032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>
                <a:solidFill>
                  <a:srgbClr val="FFFFFF"/>
                </a:solidFill>
              </a:rPr>
              <a:t>0.85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56032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>
                <a:solidFill>
                  <a:srgbClr val="FFFFFF"/>
                </a:solidFill>
              </a:rPr>
              <a:t>0.93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063240"/>
            <a:ext cx="50292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>
                <a:solidFill>
                  <a:srgbClr val="FFFFFF"/>
                </a:solidFill>
              </a:rPr>
              <a:t>Sparse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06324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>
                <a:solidFill>
                  <a:srgbClr val="FFFFFF"/>
                </a:solidFill>
              </a:rPr>
              <a:t>0.74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063240"/>
            <a:ext cx="1828800" cy="502920"/>
          </a:xfrm>
          <a:prstGeom prst="rect">
            <a:avLst/>
          </a:prstGeom>
          <a:solidFill>
            <a:srgbClr val="221B1F"/>
          </a:solidFill>
          <a:ln w="6350">
            <a:solidFill>
              <a:srgbClr val="F46E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>
                <a:solidFill>
                  <a:srgbClr val="FFFFFF"/>
                </a:solidFill>
              </a:rPr>
              <a:t>0.92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What this tells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Dense beat hybrid here</a:t>
            </a:r>
            <a:r>
              <a:rPr sz="1400">
                <a:solidFill>
                  <a:srgbClr val="FFFFFF"/>
                </a:solidFill>
                <a:latin typeface="Calibri"/>
              </a:rPr>
              <a:t> — travel queries are mostly conceptual, mpnet handles proper nouns well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Sparse-only is the floor</a:t>
            </a:r>
            <a:r>
              <a:rPr sz="1400">
                <a:solidFill>
                  <a:srgbClr val="FFFFFF"/>
                </a:solidFill>
                <a:latin typeface="Calibri"/>
              </a:rPr>
              <a:t> — BM25 alone misses paraphrased questions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Hybrid is the safer default</a:t>
            </a:r>
            <a:r>
              <a:rPr sz="1400">
                <a:solidFill>
                  <a:srgbClr val="FFFFFF"/>
                </a:solidFill>
                <a:latin typeface="Calibri"/>
              </a:rPr>
              <a:t> across diverse query mixes — and </a:t>
            </a:r>
            <a:r>
              <a:rPr b="1" sz="1400">
                <a:solidFill>
                  <a:srgbClr val="F46E32"/>
                </a:solidFill>
                <a:latin typeface="Calibri"/>
              </a:rPr>
              <a:t>it's the best base for the reranker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The reranker is what makes hybrid pay off</a:t>
            </a:r>
            <a:r>
              <a:rPr sz="1400">
                <a:solidFill>
                  <a:srgbClr val="FFFFFF"/>
                </a:solidFill>
                <a:latin typeface="Calibri"/>
              </a:rPr>
              <a:t> — it cleans up the noise BM25 introduces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Re-Ranker Impact — A Real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46E32"/>
                </a:solidFill>
                <a:latin typeface="Calibri"/>
              </a:rPr>
              <a:t>Query: "Where is the Burj Khalifa and when was it built?"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Without rerank</a:t>
            </a:r>
            <a:r>
              <a:rPr sz="1500">
                <a:solidFill>
                  <a:srgbClr val="FFFFFF"/>
                </a:solidFill>
                <a:latin typeface="Calibri"/>
              </a:rPr>
              <a:t> — the correct Burj Khalifa article was BM25 rank </a:t>
            </a:r>
            <a:r>
              <a:rPr b="1" sz="1500">
                <a:solidFill>
                  <a:srgbClr val="F46E32"/>
                </a:solidFill>
                <a:latin typeface="Calibri"/>
              </a:rPr>
              <a:t>12</a:t>
            </a:r>
            <a:r>
              <a:rPr sz="1500">
                <a:solidFill>
                  <a:srgbClr val="FFFFFF"/>
                </a:solidFill>
                <a:latin typeface="Calibri"/>
              </a:rPr>
              <a:t> → likely missed top-6 context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Dense retrieval</a:t>
            </a:r>
            <a:r>
              <a:rPr sz="1500">
                <a:solidFill>
                  <a:srgbClr val="FFFFFF"/>
                </a:solidFill>
                <a:latin typeface="Calibri"/>
              </a:rPr>
              <a:t> ranked it #1, but RRF averaged the two and pushed it to RRF rank ~5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With rerank</a:t>
            </a:r>
            <a:r>
              <a:rPr sz="1500">
                <a:solidFill>
                  <a:srgbClr val="FFFFFF"/>
                </a:solidFill>
                <a:latin typeface="Calibri"/>
              </a:rPr>
              <a:t> — the cross-encoder rescored every (query, chunk) pair jointly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It promoted Burj Khalifa to </a:t>
            </a:r>
            <a:r>
              <a:rPr b="1" sz="1500">
                <a:solidFill>
                  <a:srgbClr val="F46E32"/>
                </a:solidFill>
                <a:latin typeface="Calibri"/>
              </a:rPr>
              <a:t>position 1</a:t>
            </a:r>
            <a:r>
              <a:rPr sz="1500">
                <a:solidFill>
                  <a:srgbClr val="FFFFFF"/>
                </a:solidFill>
                <a:latin typeface="Calibri"/>
              </a:rPr>
              <a:t> with a rerank score of </a:t>
            </a:r>
            <a:r>
              <a:rPr b="1" sz="1500">
                <a:solidFill>
                  <a:srgbClr val="F46E32"/>
                </a:solidFill>
                <a:latin typeface="Calibri"/>
              </a:rPr>
              <a:t>3.41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Source 2</a:t>
            </a:r>
            <a:r>
              <a:rPr sz="1500">
                <a:solidFill>
                  <a:srgbClr val="FFFFFF"/>
                </a:solidFill>
                <a:latin typeface="Calibri"/>
              </a:rPr>
              <a:t> (Burj Al Arab) was a noisy near-match — reranker kept it but ranked it second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Latency cost</a:t>
            </a:r>
            <a:r>
              <a:rPr sz="1500">
                <a:solidFill>
                  <a:srgbClr val="FFFFFF"/>
                </a:solidFill>
                <a:latin typeface="Calibri"/>
              </a:rPr>
              <a:t> — about </a:t>
            </a:r>
            <a:r>
              <a:rPr b="1" sz="1500">
                <a:solidFill>
                  <a:srgbClr val="F46E32"/>
                </a:solidFill>
                <a:latin typeface="Calibri"/>
              </a:rPr>
              <a:t>300–800 ms</a:t>
            </a:r>
            <a:r>
              <a:rPr sz="1500">
                <a:solidFill>
                  <a:srgbClr val="FFFFFF"/>
                </a:solidFill>
                <a:latin typeface="Calibri"/>
              </a:rPr>
              <a:t> per query on CPU after model warm-up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Result:</a:t>
            </a:r>
            <a:r>
              <a:rPr sz="1500">
                <a:solidFill>
                  <a:srgbClr val="FFFFFF"/>
                </a:solidFill>
                <a:latin typeface="Calibri"/>
              </a:rPr>
              <a:t> the LLM got the right context and produced a grounded answer with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Cross-encoder reranking is the cheapest big quality win in RAG.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RAG Systems Fail in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Bad chunking</a:t>
            </a:r>
            <a:r>
              <a:rPr sz="1500">
                <a:solidFill>
                  <a:srgbClr val="FFFFFF"/>
                </a:solidFill>
                <a:latin typeface="Calibri"/>
              </a:rPr>
              <a:t> — chunks too big lose precision, too small lose context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Embedding drift</a:t>
            </a:r>
            <a:r>
              <a:rPr sz="1500">
                <a:solidFill>
                  <a:srgbClr val="FFFFFF"/>
                </a:solidFill>
                <a:latin typeface="Calibri"/>
              </a:rPr>
              <a:t> — your domain vocabulary doesn't match the embedding model's training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Stale indexes</a:t>
            </a:r>
            <a:r>
              <a:rPr sz="1500">
                <a:solidFill>
                  <a:srgbClr val="FFFFFF"/>
                </a:solidFill>
                <a:latin typeface="Calibri"/>
              </a:rPr>
              <a:t> — documents change but the vector store doesn't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Single-retriever blind spots</a:t>
            </a:r>
            <a:r>
              <a:rPr sz="1500">
                <a:solidFill>
                  <a:srgbClr val="FFFFFF"/>
                </a:solidFill>
                <a:latin typeface="Calibri"/>
              </a:rPr>
              <a:t> — dense misses exact terms; sparse misses paraphrases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Retrieval shows the right doc but the wrong chunk</a:t>
            </a:r>
            <a:r>
              <a:rPr sz="1500">
                <a:solidFill>
                  <a:srgbClr val="FFFFFF"/>
                </a:solidFill>
                <a:latin typeface="Calibri"/>
              </a:rPr>
              <a:t> of it — segmentation matters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Token budget overflow</a:t>
            </a:r>
            <a:r>
              <a:rPr sz="1500">
                <a:solidFill>
                  <a:srgbClr val="FFFFFF"/>
                </a:solidFill>
                <a:latin typeface="Calibri"/>
              </a:rPr>
              <a:t> — too many context chunks crowd out the question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Hallucinations from sparse context</a:t>
            </a:r>
            <a:r>
              <a:rPr sz="1500">
                <a:solidFill>
                  <a:srgbClr val="FFFFFF"/>
                </a:solidFill>
                <a:latin typeface="Calibri"/>
              </a:rPr>
              <a:t> — the LLM fills gaps confidently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No observability</a:t>
            </a:r>
            <a:r>
              <a:rPr sz="1500">
                <a:solidFill>
                  <a:srgbClr val="FFFFFF"/>
                </a:solidFill>
                <a:latin typeface="Calibri"/>
              </a:rPr>
              <a:t> — you can't fix what you can't see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No evaluation harness</a:t>
            </a:r>
            <a:r>
              <a:rPr sz="1500">
                <a:solidFill>
                  <a:srgbClr val="FFFFFF"/>
                </a:solidFill>
                <a:latin typeface="Calibri"/>
              </a:rPr>
              <a:t> — every change is a gamble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RAG is easy to demo, hard to operate. Plan for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Productionizing Hybrid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Hybrid retrieval as the default</a:t>
            </a:r>
            <a:r>
              <a:rPr sz="1500">
                <a:solidFill>
                  <a:srgbClr val="FFFFFF"/>
                </a:solidFill>
                <a:latin typeface="Calibri"/>
              </a:rPr>
              <a:t> — dense + sparse, fused with RRF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Cross-encoder reranking</a:t>
            </a:r>
            <a:r>
              <a:rPr sz="1500">
                <a:solidFill>
                  <a:srgbClr val="FFFFFF"/>
                </a:solidFill>
                <a:latin typeface="Calibri"/>
              </a:rPr>
              <a:t> on a small candidate pool — best precision per millisecond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Chunking strategy</a:t>
            </a:r>
            <a:r>
              <a:rPr sz="1500">
                <a:solidFill>
                  <a:srgbClr val="FFFFFF"/>
                </a:solidFill>
                <a:latin typeface="Calibri"/>
              </a:rPr>
              <a:t> tuned per corpus — try 200–400 tokens with 50-token overlap as a starting point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Reindex on a schedule</a:t>
            </a:r>
            <a:r>
              <a:rPr sz="1500">
                <a:solidFill>
                  <a:srgbClr val="FFFFFF"/>
                </a:solidFill>
                <a:latin typeface="Calibri"/>
              </a:rPr>
              <a:t> — embedding-model upgrades and content updates are routine, not exceptional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Caching</a:t>
            </a:r>
            <a:r>
              <a:rPr sz="1500">
                <a:solidFill>
                  <a:srgbClr val="FFFFFF"/>
                </a:solidFill>
                <a:latin typeface="Calibri"/>
              </a:rPr>
              <a:t> — embed-once, cache reranker scores for common queries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Fallbacks</a:t>
            </a:r>
            <a:r>
              <a:rPr sz="1500">
                <a:solidFill>
                  <a:srgbClr val="FFFFFF"/>
                </a:solidFill>
                <a:latin typeface="Calibri"/>
              </a:rPr>
              <a:t> — when retrieval confidence is low, return "I don't know" instead of guessing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Cite everything</a:t>
            </a:r>
            <a:r>
              <a:rPr sz="1500">
                <a:solidFill>
                  <a:srgbClr val="FFFFFF"/>
                </a:solidFill>
                <a:latin typeface="Calibri"/>
              </a:rPr>
              <a:t> — every claim should map to a chunk the user can click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Evaluation harness in CI</a:t>
            </a:r>
            <a:r>
              <a:rPr sz="1500">
                <a:solidFill>
                  <a:srgbClr val="FFFFFF"/>
                </a:solidFill>
                <a:latin typeface="Calibri"/>
              </a:rPr>
              <a:t> — run MRR / CUS / ACS on every change before merging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Reliability is a feature, not a phase.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Observability for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Log every stage</a:t>
            </a:r>
            <a:r>
              <a:rPr sz="1500">
                <a:solidFill>
                  <a:srgbClr val="FFFFFF"/>
                </a:solidFill>
                <a:latin typeface="Calibri"/>
              </a:rPr>
              <a:t> — query, dense IDs, sparse IDs, fused order, rerank order, final context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Per-query latency breakdown</a:t>
            </a:r>
            <a:r>
              <a:rPr sz="1500">
                <a:solidFill>
                  <a:srgbClr val="FFFFFF"/>
                </a:solidFill>
                <a:latin typeface="Calibri"/>
              </a:rPr>
              <a:t> — retrieve, rerank, generate, total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Per-chunk attribution</a:t>
            </a:r>
            <a:r>
              <a:rPr sz="1500">
                <a:solidFill>
                  <a:srgbClr val="FFFFFF"/>
                </a:solidFill>
                <a:latin typeface="Calibri"/>
              </a:rPr>
              <a:t> — which chunks supported which sentences in the answer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User feedback loop</a:t>
            </a:r>
            <a:r>
              <a:rPr sz="1500">
                <a:solidFill>
                  <a:srgbClr val="FFFFFF"/>
                </a:solidFill>
                <a:latin typeface="Calibri"/>
              </a:rPr>
              <a:t> — thumbs up/down feeds back into eval set and retrieval tuning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Drift monitoring</a:t>
            </a:r>
            <a:r>
              <a:rPr sz="1500">
                <a:solidFill>
                  <a:srgbClr val="FFFFFF"/>
                </a:solidFill>
                <a:latin typeface="Calibri"/>
              </a:rPr>
              <a:t> — track CUS / ACS over time, alert when they sag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Replay debugging</a:t>
            </a:r>
            <a:r>
              <a:rPr sz="1500">
                <a:solidFill>
                  <a:srgbClr val="FFFFFF"/>
                </a:solidFill>
                <a:latin typeface="Calibri"/>
              </a:rPr>
              <a:t> — given a bad answer, replay the exact retrieval and prompt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Cost tracking</a:t>
            </a:r>
            <a:r>
              <a:rPr sz="1500">
                <a:solidFill>
                  <a:srgbClr val="FFFFFF"/>
                </a:solidFill>
                <a:latin typeface="Calibri"/>
              </a:rPr>
              <a:t> — tokens per query, reranker calls, embeddings per day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Eval-on-CI</a:t>
            </a:r>
            <a:r>
              <a:rPr sz="1500">
                <a:solidFill>
                  <a:srgbClr val="FFFFFF"/>
                </a:solidFill>
                <a:latin typeface="Calibri"/>
              </a:rPr>
              <a:t> — block regressions before they 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6E32"/>
                </a:solidFill>
                <a:latin typeface="Calibri"/>
              </a:rPr>
              <a:t>If you can't trace it, you can't trust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Live Demo — Streamlit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What you will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Toggle the cross-encoder reranker</a:t>
            </a:r>
            <a:r>
              <a:rPr sz="1500">
                <a:solidFill>
                  <a:srgbClr val="FFFFFF"/>
                </a:solidFill>
                <a:latin typeface="Calibri"/>
              </a:rPr>
              <a:t> on and off — same query, see the difference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sz="1500">
                <a:solidFill>
                  <a:srgbClr val="FFFFFF"/>
                </a:solidFill>
                <a:latin typeface="Calibri"/>
              </a:rPr>
              <a:t>Tune </a:t>
            </a:r>
            <a:r>
              <a:rPr b="1" sz="1500">
                <a:solidFill>
                  <a:srgbClr val="F46E32"/>
                </a:solidFill>
                <a:latin typeface="Calibri"/>
              </a:rPr>
              <a:t>retrieval top-K, rerank pool size, context chunks, max tokens</a:t>
            </a:r>
            <a:r>
              <a:rPr sz="1500">
                <a:solidFill>
                  <a:srgbClr val="FFFFFF"/>
                </a:solidFill>
                <a:latin typeface="Calibri"/>
              </a:rPr>
              <a:t> live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Per-source explainability:</a:t>
            </a:r>
            <a:r>
              <a:rPr sz="1500">
                <a:solidFill>
                  <a:srgbClr val="FFFFFF"/>
                </a:solidFill>
                <a:latin typeface="Calibri"/>
              </a:rPr>
              <a:t> Dense Rank, BM25 Rank, RRF Score, Rerank Score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500">
                <a:solidFill>
                  <a:srgbClr val="F46E32"/>
                </a:solidFill>
                <a:latin typeface="Calibri"/>
              </a:rPr>
              <a:t>Latency breakdown:</a:t>
            </a:r>
            <a:r>
              <a:rPr sz="1500">
                <a:solidFill>
                  <a:srgbClr val="FFFFFF"/>
                </a:solidFill>
                <a:latin typeface="Calibri"/>
              </a:rPr>
              <a:t> retrieval vs generation vs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6E32"/>
                </a:solidFill>
                <a:latin typeface="Calibri"/>
              </a:rPr>
              <a:t>Demo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"When was the Eiffel Tower built?"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"What is the height of Burj Khalifa?"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"Which country is Machu Picchu located in?"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400">
                <a:solidFill>
                  <a:srgbClr val="F46E32"/>
                </a:solidFill>
                <a:latin typeface="Calibri"/>
              </a:rPr>
              <a:t>"Where is the Burj Khalifa and when was it built?"</a:t>
            </a:r>
            <a:r>
              <a:rPr sz="1400">
                <a:solidFill>
                  <a:srgbClr val="FFFFFF"/>
                </a:solidFill>
                <a:latin typeface="Calibri"/>
              </a:rPr>
              <a:t>  (compound query)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RAG grounds LLMs and kills hallucinations</a:t>
            </a:r>
            <a:r>
              <a:rPr sz="1600">
                <a:solidFill>
                  <a:srgbClr val="FFFFFF"/>
                </a:solidFill>
                <a:latin typeface="Calibri"/>
              </a:rPr>
              <a:t> — but only if retrieval is good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Hybrid retrieval (Dense + BM25 + RRF)</a:t>
            </a:r>
            <a:r>
              <a:rPr sz="1600">
                <a:solidFill>
                  <a:srgbClr val="FFFFFF"/>
                </a:solidFill>
                <a:latin typeface="Calibri"/>
              </a:rPr>
              <a:t> is robust because dense and sparse fail differently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Reciprocal Rank Fusion</a:t>
            </a:r>
            <a:r>
              <a:rPr sz="1600">
                <a:solidFill>
                  <a:srgbClr val="FFFFFF"/>
                </a:solidFill>
                <a:latin typeface="Calibri"/>
              </a:rPr>
              <a:t> needs no score calibration and is trivially extensible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A cross-encoder re-ranker is the cheapest big quality win</a:t>
            </a:r>
            <a:r>
              <a:rPr sz="1600">
                <a:solidFill>
                  <a:srgbClr val="FFFFFF"/>
                </a:solidFill>
                <a:latin typeface="Calibri"/>
              </a:rPr>
              <a:t> you can add to a working RAG system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Two-stage retrieval</a:t>
            </a:r>
            <a:r>
              <a:rPr sz="1600">
                <a:solidFill>
                  <a:srgbClr val="FFFFFF"/>
                </a:solidFill>
                <a:latin typeface="Calibri"/>
              </a:rPr>
              <a:t> = fast recall (bi-encoder) + sharp precision (cross-encoder)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Custom metrics (CUS, ACS)</a:t>
            </a:r>
            <a:r>
              <a:rPr sz="1600">
                <a:solidFill>
                  <a:srgbClr val="FFFFFF"/>
                </a:solidFill>
                <a:latin typeface="Calibri"/>
              </a:rPr>
              <a:t> reveal answer-quality issues that MRR alone hides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All of this runs on CPU with open models</a:t>
            </a:r>
            <a:r>
              <a:rPr sz="1600">
                <a:solidFill>
                  <a:srgbClr val="FFFFFF"/>
                </a:solidFill>
                <a:latin typeface="Calibri"/>
              </a:rPr>
              <a:t> — no API keys, no vendor lock-in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Plan for production from day one</a:t>
            </a:r>
            <a:r>
              <a:rPr sz="1600">
                <a:solidFill>
                  <a:srgbClr val="FFFFFF"/>
                </a:solidFill>
                <a:latin typeface="Calibri"/>
              </a:rPr>
              <a:t> — observability, evaluation harness, fallbacks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4300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Closing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88720" cy="64008"/>
          </a:xfrm>
          <a:prstGeom prst="rect">
            <a:avLst/>
          </a:prstGeom>
          <a:solidFill>
            <a:srgbClr val="F46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The Core Shift:</a:t>
            </a:r>
            <a:r>
              <a:rPr sz="1600">
                <a:solidFill>
                  <a:srgbClr val="FFFFFF"/>
                </a:solidFill>
                <a:latin typeface="Calibri"/>
              </a:rPr>
              <a:t> RAG is no longer optional. Conversational AI without grounding is a hallucination machine in production.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Retrieval is the bottleneck:</a:t>
            </a:r>
            <a:r>
              <a:rPr sz="1600">
                <a:solidFill>
                  <a:srgbClr val="FFFFFF"/>
                </a:solidFill>
                <a:latin typeface="Calibri"/>
              </a:rPr>
              <a:t> the model is rarely the problem. The retriever almost always is. Fix retrieval first and everything downstream gets cheaper.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Hybrid + Re-Rank as the new default:</a:t>
            </a:r>
            <a:r>
              <a:rPr sz="1600">
                <a:solidFill>
                  <a:srgbClr val="FFFFFF"/>
                </a:solidFill>
                <a:latin typeface="Calibri"/>
              </a:rPr>
              <a:t> combine dense and sparse for recall, fuse with RRF, then let a cross-encoder pick the winners. Simple, robust, fast.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F46E32"/>
                </a:solidFill>
                <a:latin typeface="Calibri"/>
              </a:rPr>
              <a:t>▸  </a:t>
            </a:r>
            <a:r>
              <a:rPr b="1" sz="1600">
                <a:solidFill>
                  <a:srgbClr val="F46E32"/>
                </a:solidFill>
                <a:latin typeface="Calibri"/>
              </a:rPr>
              <a:t>The Final Takeaway:</a:t>
            </a:r>
            <a:r>
              <a:rPr sz="1600">
                <a:solidFill>
                  <a:srgbClr val="FFFFFF"/>
                </a:solidFill>
                <a:latin typeface="Calibri"/>
              </a:rPr>
              <a:t> the next generation of conversational AI will be built on </a:t>
            </a:r>
            <a:r>
              <a:rPr b="1" sz="1600">
                <a:solidFill>
                  <a:srgbClr val="F46E32"/>
                </a:solidFill>
                <a:latin typeface="Calibri"/>
              </a:rPr>
              <a:t>reliable retrieval</a:t>
            </a:r>
            <a:r>
              <a:rPr sz="1600">
                <a:solidFill>
                  <a:srgbClr val="FFFFFF"/>
                </a:solidFill>
                <a:latin typeface="Calibri"/>
              </a:rPr>
              <a:t>, not bigger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8872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DataHour  •  Hybrid RAG with Re-Ranking  •  Ravindra Babu Katiki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AAAA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800" b="0">
                <a:solidFill>
                  <a:srgbClr val="F46E32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Calibri"/>
              </a:rPr>
              <a:t>github.com/sunrise197605/Datahour_HybridRAG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Calibri"/>
              </a:rPr>
              <a:t>Katiki Ravindra Babu  •  Strategic Technology Advisor, Vriksha.ai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